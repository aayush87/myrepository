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303" r:id="rId2"/>
    <p:sldId id="258" r:id="rId3"/>
    <p:sldId id="304" r:id="rId4"/>
    <p:sldId id="260" r:id="rId5"/>
    <p:sldId id="261" r:id="rId6"/>
    <p:sldId id="305" r:id="rId7"/>
    <p:sldId id="263" r:id="rId8"/>
    <p:sldId id="266" r:id="rId9"/>
    <p:sldId id="306" r:id="rId10"/>
    <p:sldId id="267" r:id="rId11"/>
    <p:sldId id="308" r:id="rId12"/>
    <p:sldId id="268" r:id="rId13"/>
    <p:sldId id="286" r:id="rId14"/>
    <p:sldId id="287" r:id="rId15"/>
    <p:sldId id="288" r:id="rId16"/>
    <p:sldId id="290" r:id="rId17"/>
    <p:sldId id="307" r:id="rId18"/>
    <p:sldId id="272" r:id="rId19"/>
    <p:sldId id="273" r:id="rId20"/>
    <p:sldId id="292" r:id="rId21"/>
    <p:sldId id="284" r:id="rId22"/>
    <p:sldId id="293" r:id="rId23"/>
    <p:sldId id="283" r:id="rId24"/>
    <p:sldId id="294" r:id="rId25"/>
    <p:sldId id="274" r:id="rId26"/>
    <p:sldId id="295" r:id="rId27"/>
    <p:sldId id="275" r:id="rId28"/>
    <p:sldId id="296" r:id="rId29"/>
    <p:sldId id="277" r:id="rId30"/>
    <p:sldId id="298" r:id="rId31"/>
    <p:sldId id="281" r:id="rId32"/>
    <p:sldId id="282" r:id="rId33"/>
    <p:sldId id="302" r:id="rId34"/>
    <p:sldId id="291" r:id="rId35"/>
    <p:sldId id="30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80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2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9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9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7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56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8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31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64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91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E96F0-8ECD-46AC-AE86-93CF6995CF05}" type="datetimeFigureOut">
              <a:rPr lang="en-US" smtClean="0"/>
              <a:t>1/4/2019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4BCF7-E5FD-41B0-AEB4-2F73DBF10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mailto:ab@ad.nf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15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2.Employee </a:t>
            </a:r>
            <a:r>
              <a:rPr lang="en-US" dirty="0" err="1" smtClean="0"/>
              <a:t>DashBoard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75084" y="3144652"/>
            <a:ext cx="266787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Apply Leave</a:t>
            </a:r>
            <a:endParaRPr lang="en-US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50393" y="4986899"/>
            <a:ext cx="2917252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Cancel Approved Leaves</a:t>
            </a:r>
            <a:endParaRPr lang="en-US" sz="28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97089" y="2557634"/>
            <a:ext cx="1944947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Apply Optional Holiday</a:t>
            </a:r>
            <a:endParaRPr 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33125" y="4859303"/>
            <a:ext cx="265810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Planned Leaves</a:t>
            </a:r>
          </a:p>
          <a:p>
            <a:pPr algn="ctr"/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(Shown Here)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7627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59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07819"/>
            <a:ext cx="10406302" cy="652549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300" dirty="0" smtClean="0"/>
              <a:t>3.Apply Leave Page</a:t>
            </a:r>
          </a:p>
          <a:p>
            <a:pPr marL="0" indent="0">
              <a:buNone/>
            </a:pPr>
            <a:endParaRPr lang="en-US" sz="2800" b="1" dirty="0" smtClean="0"/>
          </a:p>
          <a:p>
            <a:pPr marL="0" indent="0">
              <a:buNone/>
            </a:pPr>
            <a:r>
              <a:rPr lang="en-US" sz="2800" b="1" dirty="0" smtClean="0"/>
              <a:t>Leave Application:-                                                                 </a:t>
            </a:r>
            <a:r>
              <a:rPr lang="en-US" b="1" dirty="0">
                <a:sym typeface="Wingdings" panose="05000000000000000000" pitchFamily="2" charset="2"/>
              </a:rPr>
              <a:t>Holiday </a:t>
            </a:r>
            <a:r>
              <a:rPr lang="en-US" b="1" dirty="0" smtClean="0">
                <a:sym typeface="Wingdings" panose="05000000000000000000" pitchFamily="2" charset="2"/>
              </a:rPr>
              <a:t>Calendar</a:t>
            </a:r>
          </a:p>
          <a:p>
            <a:pPr marL="0" indent="0">
              <a:buNone/>
            </a:pP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b="1" dirty="0" smtClean="0">
                <a:sym typeface="Wingdings" panose="05000000000000000000" pitchFamily="2" charset="2"/>
              </a:rPr>
              <a:t>                                                                                                               </a:t>
            </a:r>
            <a:r>
              <a:rPr lang="en-US" dirty="0">
                <a:sym typeface="Wingdings" panose="05000000000000000000" pitchFamily="2" charset="2"/>
              </a:rPr>
              <a:t>Year:- </a:t>
            </a:r>
            <a:r>
              <a:rPr lang="en-US" dirty="0" smtClean="0">
                <a:sym typeface="Wingdings" panose="05000000000000000000" pitchFamily="2" charset="2"/>
              </a:rPr>
              <a:t>Dropdown                                                                                                                               							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DC:- Automatic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sym typeface="Wingdings" panose="05000000000000000000" pitchFamily="2" charset="2"/>
              </a:rPr>
              <a:t>From date:-Calendar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sym typeface="Wingdings" panose="05000000000000000000" pitchFamily="2" charset="2"/>
              </a:rPr>
              <a:t>To Date:-Calendar		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sym typeface="Wingdings" panose="05000000000000000000" pitchFamily="2" charset="2"/>
              </a:rPr>
              <a:t>Reason for Leave:-Textbox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sym typeface="Wingdings" panose="05000000000000000000" pitchFamily="2" charset="2"/>
              </a:rPr>
              <a:t>To be approved by:-Filled Automatically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ym typeface="Wingdings" panose="05000000000000000000" pitchFamily="2" charset="2"/>
              </a:rPr>
              <a:t>Optional Holiday:-Yes/No</a:t>
            </a:r>
            <a:endParaRPr lang="en-US" sz="2800" dirty="0" smtClean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>
                <a:sym typeface="Wingdings" panose="05000000000000000000" pitchFamily="2" charset="2"/>
              </a:rPr>
              <a:t>Apply &amp; Reset</a:t>
            </a:r>
          </a:p>
          <a:p>
            <a:pPr marL="0" indent="0">
              <a:buNone/>
            </a:pPr>
            <a:endParaRPr lang="en-US" sz="2800" b="1" dirty="0" smtClean="0"/>
          </a:p>
          <a:p>
            <a:pPr marL="0" indent="0">
              <a:buNone/>
            </a:pPr>
            <a:r>
              <a:rPr lang="en-US" sz="2800" dirty="0" smtClean="0">
                <a:sym typeface="Wingdings" panose="05000000000000000000" pitchFamily="2" charset="2"/>
              </a:rPr>
              <a:t>	</a:t>
            </a:r>
          </a:p>
          <a:p>
            <a:pPr marL="0" indent="0">
              <a:buNone/>
            </a:pPr>
            <a:endParaRPr lang="en-US" sz="2800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0975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.Cancel Approved Leaves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1655595"/>
              </p:ext>
            </p:extLst>
          </p:nvPr>
        </p:nvGraphicFramePr>
        <p:xfrm>
          <a:off x="677690" y="2326843"/>
          <a:ext cx="859631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078">
                  <a:extLst>
                    <a:ext uri="{9D8B030D-6E8A-4147-A177-3AD203B41FA5}">
                      <a16:colId xmlns:a16="http://schemas.microsoft.com/office/drawing/2014/main" val="2981272279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4078329162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2233131577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999608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Leave Account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Credit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Balance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600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36478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52643" y="1522274"/>
            <a:ext cx="386778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Leave Account Balance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2643" y="3573171"/>
            <a:ext cx="318375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 Leave Requests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057706"/>
              </p:ext>
            </p:extLst>
          </p:nvPr>
        </p:nvGraphicFramePr>
        <p:xfrm>
          <a:off x="677334" y="4474721"/>
          <a:ext cx="876711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091">
                  <a:extLst>
                    <a:ext uri="{9D8B030D-6E8A-4147-A177-3AD203B41FA5}">
                      <a16:colId xmlns:a16="http://schemas.microsoft.com/office/drawing/2014/main" val="1679487262"/>
                    </a:ext>
                  </a:extLst>
                </a:gridCol>
                <a:gridCol w="876914">
                  <a:extLst>
                    <a:ext uri="{9D8B030D-6E8A-4147-A177-3AD203B41FA5}">
                      <a16:colId xmlns:a16="http://schemas.microsoft.com/office/drawing/2014/main" val="2478477143"/>
                    </a:ext>
                  </a:extLst>
                </a:gridCol>
                <a:gridCol w="691954">
                  <a:extLst>
                    <a:ext uri="{9D8B030D-6E8A-4147-A177-3AD203B41FA5}">
                      <a16:colId xmlns:a16="http://schemas.microsoft.com/office/drawing/2014/main" val="891314438"/>
                    </a:ext>
                  </a:extLst>
                </a:gridCol>
                <a:gridCol w="681824">
                  <a:extLst>
                    <a:ext uri="{9D8B030D-6E8A-4147-A177-3AD203B41FA5}">
                      <a16:colId xmlns:a16="http://schemas.microsoft.com/office/drawing/2014/main" val="2533154864"/>
                    </a:ext>
                  </a:extLst>
                </a:gridCol>
                <a:gridCol w="887174">
                  <a:extLst>
                    <a:ext uri="{9D8B030D-6E8A-4147-A177-3AD203B41FA5}">
                      <a16:colId xmlns:a16="http://schemas.microsoft.com/office/drawing/2014/main" val="4089843465"/>
                    </a:ext>
                  </a:extLst>
                </a:gridCol>
                <a:gridCol w="1216696">
                  <a:extLst>
                    <a:ext uri="{9D8B030D-6E8A-4147-A177-3AD203B41FA5}">
                      <a16:colId xmlns:a16="http://schemas.microsoft.com/office/drawing/2014/main" val="3947537800"/>
                    </a:ext>
                  </a:extLst>
                </a:gridCol>
                <a:gridCol w="1064609">
                  <a:extLst>
                    <a:ext uri="{9D8B030D-6E8A-4147-A177-3AD203B41FA5}">
                      <a16:colId xmlns:a16="http://schemas.microsoft.com/office/drawing/2014/main" val="3265861297"/>
                    </a:ext>
                  </a:extLst>
                </a:gridCol>
                <a:gridCol w="1190925">
                  <a:extLst>
                    <a:ext uri="{9D8B030D-6E8A-4147-A177-3AD203B41FA5}">
                      <a16:colId xmlns:a16="http://schemas.microsoft.com/office/drawing/2014/main" val="2071857221"/>
                    </a:ext>
                  </a:extLst>
                </a:gridCol>
                <a:gridCol w="1190925">
                  <a:extLst>
                    <a:ext uri="{9D8B030D-6E8A-4147-A177-3AD203B41FA5}">
                      <a16:colId xmlns:a16="http://schemas.microsoft.com/office/drawing/2014/main" val="521021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From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To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of Leaves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Applied 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Approver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669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49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10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01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73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6.Manager </a:t>
            </a:r>
            <a:r>
              <a:rPr lang="en-US" dirty="0" err="1" smtClean="0"/>
              <a:t>DashBoard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353421"/>
              </p:ext>
            </p:extLst>
          </p:nvPr>
        </p:nvGraphicFramePr>
        <p:xfrm>
          <a:off x="1005841" y="1441392"/>
          <a:ext cx="8968832" cy="1344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701">
                  <a:extLst>
                    <a:ext uri="{9D8B030D-6E8A-4147-A177-3AD203B41FA5}">
                      <a16:colId xmlns:a16="http://schemas.microsoft.com/office/drawing/2014/main" val="300591873"/>
                    </a:ext>
                  </a:extLst>
                </a:gridCol>
                <a:gridCol w="1185701">
                  <a:extLst>
                    <a:ext uri="{9D8B030D-6E8A-4147-A177-3AD203B41FA5}">
                      <a16:colId xmlns:a16="http://schemas.microsoft.com/office/drawing/2014/main" val="3937309048"/>
                    </a:ext>
                  </a:extLst>
                </a:gridCol>
                <a:gridCol w="666591">
                  <a:extLst>
                    <a:ext uri="{9D8B030D-6E8A-4147-A177-3AD203B41FA5}">
                      <a16:colId xmlns:a16="http://schemas.microsoft.com/office/drawing/2014/main" val="1900849876"/>
                    </a:ext>
                  </a:extLst>
                </a:gridCol>
                <a:gridCol w="630446">
                  <a:extLst>
                    <a:ext uri="{9D8B030D-6E8A-4147-A177-3AD203B41FA5}">
                      <a16:colId xmlns:a16="http://schemas.microsoft.com/office/drawing/2014/main" val="2520240767"/>
                    </a:ext>
                  </a:extLst>
                </a:gridCol>
                <a:gridCol w="710876">
                  <a:extLst>
                    <a:ext uri="{9D8B030D-6E8A-4147-A177-3AD203B41FA5}">
                      <a16:colId xmlns:a16="http://schemas.microsoft.com/office/drawing/2014/main" val="3854000644"/>
                    </a:ext>
                  </a:extLst>
                </a:gridCol>
                <a:gridCol w="1346923">
                  <a:extLst>
                    <a:ext uri="{9D8B030D-6E8A-4147-A177-3AD203B41FA5}">
                      <a16:colId xmlns:a16="http://schemas.microsoft.com/office/drawing/2014/main" val="858740874"/>
                    </a:ext>
                  </a:extLst>
                </a:gridCol>
                <a:gridCol w="1085022">
                  <a:extLst>
                    <a:ext uri="{9D8B030D-6E8A-4147-A177-3AD203B41FA5}">
                      <a16:colId xmlns:a16="http://schemas.microsoft.com/office/drawing/2014/main" val="1693314996"/>
                    </a:ext>
                  </a:extLst>
                </a:gridCol>
                <a:gridCol w="1010193">
                  <a:extLst>
                    <a:ext uri="{9D8B030D-6E8A-4147-A177-3AD203B41FA5}">
                      <a16:colId xmlns:a16="http://schemas.microsoft.com/office/drawing/2014/main" val="364839406"/>
                    </a:ext>
                  </a:extLst>
                </a:gridCol>
                <a:gridCol w="1147379">
                  <a:extLst>
                    <a:ext uri="{9D8B030D-6E8A-4147-A177-3AD203B41FA5}">
                      <a16:colId xmlns:a16="http://schemas.microsoft.com/office/drawing/2014/main" val="455506263"/>
                    </a:ext>
                  </a:extLst>
                </a:gridCol>
              </a:tblGrid>
              <a:tr h="956642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 No.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of Leaves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Applied 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539160"/>
                  </a:ext>
                </a:extLst>
              </a:tr>
              <a:tr h="38797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66619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403960" y="3411374"/>
            <a:ext cx="2866787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Apply Leaves(Button)</a:t>
            </a:r>
            <a:endParaRPr lang="en-US" sz="28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7241" y="4792134"/>
            <a:ext cx="2790023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Add/Delete Employees</a:t>
            </a:r>
            <a:endParaRPr lang="en-US" sz="28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03960" y="4762886"/>
            <a:ext cx="3464140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Update Roles and Rates</a:t>
            </a:r>
            <a:endParaRPr lang="en-US" sz="28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414161" y="3297391"/>
            <a:ext cx="24213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Upload RT Sheet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31698" y="4762884"/>
            <a:ext cx="2381645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Generate Billing Status(Button)</a:t>
            </a:r>
            <a:endParaRPr lang="en-US" sz="28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044796" y="4762885"/>
            <a:ext cx="2201990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cap="none" spc="0" dirty="0" smtClean="0">
                <a:ln/>
                <a:solidFill>
                  <a:schemeClr val="accent3"/>
                </a:solidFill>
                <a:effectLst/>
              </a:rPr>
              <a:t>Generate Task Order</a:t>
            </a:r>
            <a:endParaRPr lang="en-US" sz="28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79643" y="3411374"/>
            <a:ext cx="236714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Upload Time Sheet</a:t>
            </a:r>
            <a:endParaRPr lang="en-US" sz="3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1158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054" y="23440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9.Add/Delete Employees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993894"/>
              </p:ext>
            </p:extLst>
          </p:nvPr>
        </p:nvGraphicFramePr>
        <p:xfrm>
          <a:off x="1164770" y="5303154"/>
          <a:ext cx="84124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594289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62152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9565468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77262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</a:t>
                      </a:r>
                      <a:r>
                        <a:rPr lang="en-US" baseline="0" dirty="0" smtClean="0"/>
                        <a:t> No.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61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8347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64770" y="4719157"/>
            <a:ext cx="3095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Delete Employee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1164770" y="1047673"/>
            <a:ext cx="3095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Add Employee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1164770" y="1610614"/>
            <a:ext cx="91548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Employee No:-Number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Name:-Text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Unit:-Text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Reporting Manager </a:t>
            </a:r>
            <a:r>
              <a:rPr lang="en-US" sz="2800" dirty="0" err="1" smtClean="0"/>
              <a:t>Emp</a:t>
            </a:r>
            <a:r>
              <a:rPr lang="en-US" sz="2800" dirty="0" smtClean="0"/>
              <a:t> Id:-Number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Location:-Dropdown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DC:-Dropdown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Designation:-Dropdown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62439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90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10.Update Roles and Rates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Role:-Dropdown</a:t>
            </a:r>
          </a:p>
          <a:p>
            <a:r>
              <a:rPr lang="en-US" dirty="0" smtClean="0"/>
              <a:t>Currency:-Dropdown(USD,INR,GBP)</a:t>
            </a:r>
          </a:p>
          <a:p>
            <a:r>
              <a:rPr lang="en-US" dirty="0" smtClean="0"/>
              <a:t>Pay per Day:-Number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Add/Delete Role:-Text		Add | Delete</a:t>
            </a:r>
          </a:p>
          <a:p>
            <a:r>
              <a:rPr lang="en-US" dirty="0" smtClean="0"/>
              <a:t>Add/Delete Currency:-Text	</a:t>
            </a:r>
            <a:r>
              <a:rPr lang="en-US" dirty="0"/>
              <a:t>Add | </a:t>
            </a:r>
            <a:r>
              <a:rPr lang="en-US" dirty="0" smtClean="0"/>
              <a:t>Delete</a:t>
            </a:r>
          </a:p>
          <a:p>
            <a:r>
              <a:rPr lang="en-US" dirty="0"/>
              <a:t>Add/Delete </a:t>
            </a:r>
            <a:r>
              <a:rPr lang="en-US" dirty="0" smtClean="0"/>
              <a:t>Location:-</a:t>
            </a:r>
            <a:r>
              <a:rPr lang="en-US" dirty="0"/>
              <a:t>Text	Add | Delete</a:t>
            </a:r>
          </a:p>
          <a:p>
            <a:r>
              <a:rPr lang="en-US" dirty="0" smtClean="0"/>
              <a:t>Add/Delete DC:-</a:t>
            </a:r>
            <a:r>
              <a:rPr lang="en-US" dirty="0"/>
              <a:t>Text	Add | Delete</a:t>
            </a:r>
          </a:p>
          <a:p>
            <a:r>
              <a:rPr lang="en-US" dirty="0"/>
              <a:t>Add/Delete </a:t>
            </a:r>
            <a:r>
              <a:rPr lang="en-US" dirty="0" smtClean="0"/>
              <a:t>Role:-</a:t>
            </a:r>
            <a:r>
              <a:rPr lang="en-US" dirty="0"/>
              <a:t>Text	Add | Delete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598685"/>
              </p:ext>
            </p:extLst>
          </p:nvPr>
        </p:nvGraphicFramePr>
        <p:xfrm>
          <a:off x="1048328" y="3117836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8078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2853089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82468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Currency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Pay per Day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437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408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655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66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11.Update Timesheet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Year:-Dropdown</a:t>
            </a:r>
          </a:p>
          <a:p>
            <a:r>
              <a:rPr lang="en-US" dirty="0" smtClean="0"/>
              <a:t>Month:-Dropdown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0" indent="0">
              <a:buNone/>
            </a:pPr>
            <a:r>
              <a:rPr lang="en-US" dirty="0" smtClean="0"/>
              <a:t>	if not present-Button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Present-Excel Sheet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29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15.Upload RT 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69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16.Admin Login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01584" y="2634824"/>
            <a:ext cx="1924052" cy="18158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Update Holiday/Optional Holiday</a:t>
            </a:r>
            <a:endParaRPr lang="en-US" sz="28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9205" y="3047187"/>
            <a:ext cx="3296177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Add/Delete Managers</a:t>
            </a:r>
            <a:endParaRPr lang="en-US" sz="28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059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17.Update Holiday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 smtClean="0"/>
              <a:t>Add Holiday:-</a:t>
            </a:r>
          </a:p>
          <a:p>
            <a:pPr marL="0" indent="0">
              <a:buNone/>
            </a:pPr>
            <a:r>
              <a:rPr lang="en-US" sz="2400" dirty="0" smtClean="0"/>
              <a:t>1.DC:-Dropdown</a:t>
            </a:r>
          </a:p>
          <a:p>
            <a:pPr marL="0" indent="0">
              <a:buNone/>
            </a:pPr>
            <a:r>
              <a:rPr lang="en-US" sz="2400" dirty="0" smtClean="0"/>
              <a:t>2.Year:-Dropdown</a:t>
            </a:r>
          </a:p>
          <a:p>
            <a:pPr marL="0" indent="0">
              <a:buNone/>
            </a:pPr>
            <a:r>
              <a:rPr lang="en-US" sz="2400" dirty="0" smtClean="0"/>
              <a:t>3.Date:-Calendar</a:t>
            </a:r>
          </a:p>
          <a:p>
            <a:pPr marL="0" indent="0">
              <a:buNone/>
            </a:pPr>
            <a:r>
              <a:rPr lang="en-US" sz="2400" dirty="0" smtClean="0"/>
              <a:t>4.Holiday:-Text</a:t>
            </a:r>
          </a:p>
          <a:p>
            <a:pPr marL="0" indent="0">
              <a:buNone/>
            </a:pPr>
            <a:r>
              <a:rPr lang="en-US" sz="2400" dirty="0" smtClean="0"/>
              <a:t>5.Optional Holiday:-Yes/No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Delete Holiday:-</a:t>
            </a:r>
          </a:p>
          <a:p>
            <a:pPr marL="0" indent="0">
              <a:buNone/>
            </a:pPr>
            <a:r>
              <a:rPr lang="en-US" sz="2400" dirty="0" smtClean="0"/>
              <a:t>1.DC:-Dropdown</a:t>
            </a:r>
          </a:p>
          <a:p>
            <a:pPr marL="0" indent="0">
              <a:buNone/>
            </a:pPr>
            <a:r>
              <a:rPr lang="en-US" sz="2400" dirty="0" smtClean="0"/>
              <a:t>2.Year:-Dropdown</a:t>
            </a:r>
          </a:p>
          <a:p>
            <a:pPr marL="0" indent="0">
              <a:buNone/>
            </a:pPr>
            <a:r>
              <a:rPr lang="en-US" sz="2400" dirty="0" smtClean="0"/>
              <a:t>3.Date:-Calendar</a:t>
            </a:r>
          </a:p>
          <a:p>
            <a:pPr marL="0" indent="0">
              <a:buNone/>
            </a:pPr>
            <a:r>
              <a:rPr lang="en-US" sz="2400" dirty="0" smtClean="0"/>
              <a:t>4.Optional </a:t>
            </a:r>
            <a:r>
              <a:rPr lang="en-US" sz="2400" dirty="0"/>
              <a:t>Holiday:-Yes/No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26989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18.Add/Delete Managers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smtClean="0"/>
              <a:t>Add Managers:-</a:t>
            </a:r>
          </a:p>
          <a:p>
            <a:pPr marL="0" indent="0">
              <a:buNone/>
            </a:pPr>
            <a:r>
              <a:rPr lang="en-US" sz="2400" dirty="0" smtClean="0"/>
              <a:t>1.Manager No:-Number</a:t>
            </a:r>
          </a:p>
          <a:p>
            <a:pPr marL="0" indent="0">
              <a:buNone/>
            </a:pPr>
            <a:r>
              <a:rPr lang="en-US" sz="2400" dirty="0" smtClean="0"/>
              <a:t>2.Manager Name:-Text</a:t>
            </a:r>
          </a:p>
          <a:p>
            <a:pPr marL="0" indent="0">
              <a:buNone/>
            </a:pPr>
            <a:r>
              <a:rPr lang="en-US" sz="2400" dirty="0" smtClean="0"/>
              <a:t>3.Unit:-Text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4.Location:-Dropdown</a:t>
            </a:r>
          </a:p>
          <a:p>
            <a:pPr marL="0" indent="0">
              <a:buNone/>
            </a:pPr>
            <a:r>
              <a:rPr lang="en-US" sz="2400" dirty="0" smtClean="0"/>
              <a:t>5.Role :-Dropdown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Delete Managers:-</a:t>
            </a:r>
          </a:p>
          <a:p>
            <a:pPr marL="0" indent="0">
              <a:buNone/>
            </a:pPr>
            <a:r>
              <a:rPr lang="en-US" sz="2400" dirty="0" smtClean="0"/>
              <a:t>1.Manager No:-Number</a:t>
            </a:r>
          </a:p>
          <a:p>
            <a:pPr marL="0" indent="0">
              <a:buNone/>
            </a:pPr>
            <a:r>
              <a:rPr lang="en-US" sz="2400" dirty="0" smtClean="0"/>
              <a:t>2.Replacement Manager:-Number(</a:t>
            </a:r>
            <a:r>
              <a:rPr lang="en-US" sz="2400" dirty="0" err="1" smtClean="0"/>
              <a:t>ManagerNo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7708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180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94562" y="2385443"/>
            <a:ext cx="745122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Database Design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225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8036" y="360219"/>
            <a:ext cx="10515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 . Employee Table</a:t>
            </a:r>
          </a:p>
          <a:p>
            <a:endParaRPr lang="en-US" dirty="0"/>
          </a:p>
          <a:p>
            <a:r>
              <a:rPr lang="en-US" dirty="0" smtClean="0"/>
              <a:t>	1. Employee No.:- Number</a:t>
            </a:r>
          </a:p>
          <a:p>
            <a:r>
              <a:rPr lang="en-US" dirty="0"/>
              <a:t>	</a:t>
            </a:r>
            <a:r>
              <a:rPr lang="en-US" dirty="0" smtClean="0"/>
              <a:t>2. Employee Name:- Varchar</a:t>
            </a:r>
          </a:p>
          <a:p>
            <a:r>
              <a:rPr lang="en-US" dirty="0"/>
              <a:t>	</a:t>
            </a:r>
            <a:r>
              <a:rPr lang="en-US" dirty="0" smtClean="0"/>
              <a:t>3. Billing Start Date:-Date</a:t>
            </a:r>
          </a:p>
          <a:p>
            <a:r>
              <a:rPr lang="en-US" dirty="0"/>
              <a:t>	</a:t>
            </a:r>
            <a:r>
              <a:rPr lang="en-US" dirty="0" smtClean="0"/>
              <a:t>4.Billing End Date:-Date</a:t>
            </a:r>
          </a:p>
          <a:p>
            <a:r>
              <a:rPr lang="en-US" dirty="0"/>
              <a:t>	5</a:t>
            </a:r>
            <a:r>
              <a:rPr lang="en-US" dirty="0" smtClean="0"/>
              <a:t>. Approver:- </a:t>
            </a:r>
            <a:r>
              <a:rPr lang="en-US" dirty="0"/>
              <a:t>Varchar</a:t>
            </a:r>
            <a:endParaRPr lang="en-US" dirty="0" smtClean="0"/>
          </a:p>
          <a:p>
            <a:r>
              <a:rPr lang="en-US" dirty="0"/>
              <a:t>	6</a:t>
            </a:r>
            <a:r>
              <a:rPr lang="en-US" dirty="0" smtClean="0"/>
              <a:t>. Location:- </a:t>
            </a:r>
            <a:r>
              <a:rPr lang="en-US" dirty="0"/>
              <a:t>Varchar</a:t>
            </a:r>
            <a:endParaRPr lang="en-US" dirty="0" smtClean="0"/>
          </a:p>
          <a:p>
            <a:r>
              <a:rPr lang="en-US" dirty="0"/>
              <a:t>	7</a:t>
            </a:r>
            <a:r>
              <a:rPr lang="en-US" dirty="0" smtClean="0"/>
              <a:t>. Role:- Varchar</a:t>
            </a:r>
          </a:p>
          <a:p>
            <a:r>
              <a:rPr lang="en-US" dirty="0"/>
              <a:t>	8</a:t>
            </a:r>
            <a:r>
              <a:rPr lang="en-US" dirty="0" smtClean="0"/>
              <a:t>.Currency:-Varchar</a:t>
            </a:r>
          </a:p>
          <a:p>
            <a:r>
              <a:rPr lang="en-US" dirty="0"/>
              <a:t>	</a:t>
            </a:r>
            <a:r>
              <a:rPr lang="en-US" dirty="0" smtClean="0"/>
              <a:t>9.Rate per Hour:-Number</a:t>
            </a:r>
          </a:p>
          <a:p>
            <a:r>
              <a:rPr lang="en-US" dirty="0"/>
              <a:t>	</a:t>
            </a:r>
            <a:r>
              <a:rPr lang="en-US" dirty="0" smtClean="0"/>
              <a:t>10.DC:-Varchar</a:t>
            </a:r>
          </a:p>
          <a:p>
            <a:r>
              <a:rPr lang="en-US" dirty="0"/>
              <a:t>	3.Application:- Varchar</a:t>
            </a:r>
          </a:p>
          <a:p>
            <a:r>
              <a:rPr lang="en-US" dirty="0"/>
              <a:t>8.Daily Rate:-Number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Composite Primary Key:- Employee No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748169"/>
              </p:ext>
            </p:extLst>
          </p:nvPr>
        </p:nvGraphicFramePr>
        <p:xfrm>
          <a:off x="588817" y="4557374"/>
          <a:ext cx="1076498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76">
                  <a:extLst>
                    <a:ext uri="{9D8B030D-6E8A-4147-A177-3AD203B41FA5}">
                      <a16:colId xmlns:a16="http://schemas.microsoft.com/office/drawing/2014/main" val="3556738929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1756834817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679693576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3454975171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1868831624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2705823036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631913372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2214789062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3797965298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2229945996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723956810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3936698459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1291304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 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Billing Start</a:t>
                      </a:r>
                      <a:r>
                        <a:rPr lang="en-US" baseline="0" dirty="0" smtClean="0"/>
                        <a:t> 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Billing</a:t>
                      </a:r>
                      <a:r>
                        <a:rPr lang="en-US" baseline="0" dirty="0" smtClean="0"/>
                        <a:t> End 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Approver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Currency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Rate per Hour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Daily 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Adjustment(Last Month)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62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1007809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Aayush Shrivastava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23-Aug-2018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177161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Systems Engineer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2520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380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663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16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16182" y="1108364"/>
            <a:ext cx="94072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II . Manager Table</a:t>
            </a:r>
          </a:p>
          <a:p>
            <a:r>
              <a:rPr lang="en-US" dirty="0"/>
              <a:t>	</a:t>
            </a:r>
            <a:r>
              <a:rPr lang="en-US" dirty="0" smtClean="0"/>
              <a:t>1.Manager No:-Number</a:t>
            </a:r>
          </a:p>
          <a:p>
            <a:r>
              <a:rPr lang="en-US" dirty="0"/>
              <a:t>	</a:t>
            </a:r>
            <a:r>
              <a:rPr lang="en-US" dirty="0" smtClean="0"/>
              <a:t>2.Manager Name:-Varchar</a:t>
            </a:r>
          </a:p>
          <a:p>
            <a:r>
              <a:rPr lang="en-US" dirty="0"/>
              <a:t>	</a:t>
            </a:r>
            <a:r>
              <a:rPr lang="en-US" dirty="0" smtClean="0"/>
              <a:t>3.Unit:-Varchar</a:t>
            </a:r>
          </a:p>
          <a:p>
            <a:r>
              <a:rPr lang="en-US" dirty="0" smtClean="0"/>
              <a:t>	4.Location:-Varchar</a:t>
            </a:r>
          </a:p>
          <a:p>
            <a:r>
              <a:rPr lang="en-US" dirty="0"/>
              <a:t>	</a:t>
            </a:r>
            <a:r>
              <a:rPr lang="en-US" dirty="0" smtClean="0"/>
              <a:t>5.DC:-Varchar</a:t>
            </a:r>
          </a:p>
          <a:p>
            <a:r>
              <a:rPr lang="en-US" dirty="0"/>
              <a:t>	6</a:t>
            </a:r>
            <a:r>
              <a:rPr lang="en-US" dirty="0" smtClean="0"/>
              <a:t>.Role:-Varchar</a:t>
            </a:r>
          </a:p>
          <a:p>
            <a:endParaRPr lang="en-US" dirty="0"/>
          </a:p>
          <a:p>
            <a:r>
              <a:rPr lang="en-US" dirty="0" smtClean="0"/>
              <a:t>Primary Key:-Manager Id</a:t>
            </a:r>
          </a:p>
          <a:p>
            <a:r>
              <a:rPr lang="en-US" dirty="0"/>
              <a:t>	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816214"/>
              </p:ext>
            </p:extLst>
          </p:nvPr>
        </p:nvGraphicFramePr>
        <p:xfrm>
          <a:off x="1316182" y="3892357"/>
          <a:ext cx="812800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18386991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0360326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8389371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5411605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0918040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22782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Manager 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Manager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614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273512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Ankit Singh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FSA3DM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Project Manager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448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509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01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7527" y="775855"/>
            <a:ext cx="99198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III. Login Table</a:t>
            </a:r>
          </a:p>
          <a:p>
            <a:r>
              <a:rPr lang="en-US" dirty="0"/>
              <a:t>	</a:t>
            </a:r>
            <a:r>
              <a:rPr lang="en-US" dirty="0" smtClean="0"/>
              <a:t>1.UserName: Varchar</a:t>
            </a:r>
          </a:p>
          <a:p>
            <a:r>
              <a:rPr lang="en-US" dirty="0"/>
              <a:t>	</a:t>
            </a:r>
            <a:r>
              <a:rPr lang="en-US" dirty="0" smtClean="0"/>
              <a:t>2.Password:password</a:t>
            </a:r>
          </a:p>
          <a:p>
            <a:r>
              <a:rPr lang="en-US" dirty="0"/>
              <a:t>	</a:t>
            </a:r>
            <a:r>
              <a:rPr lang="en-US" dirty="0" smtClean="0"/>
              <a:t>3.Log_Status:Integer(1-Active,0-Inactive)</a:t>
            </a:r>
          </a:p>
          <a:p>
            <a:endParaRPr lang="en-US" dirty="0"/>
          </a:p>
          <a:p>
            <a:r>
              <a:rPr lang="en-US" dirty="0" smtClean="0"/>
              <a:t>Primary Key : </a:t>
            </a:r>
            <a:r>
              <a:rPr lang="en-US" dirty="0" err="1" smtClean="0"/>
              <a:t>UserName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358058"/>
              </p:ext>
            </p:extLst>
          </p:nvPr>
        </p:nvGraphicFramePr>
        <p:xfrm>
          <a:off x="1491672" y="3462866"/>
          <a:ext cx="8127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3764145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1231742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95325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UserName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Password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Log_Status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788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Aayush.shrivastava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2"/>
                        </a:rPr>
                        <a:t>ab@ad.nf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635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781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95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2654" y="1219200"/>
            <a:ext cx="1051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IV. DC Wise Holiday Tables</a:t>
            </a:r>
          </a:p>
          <a:p>
            <a:endParaRPr lang="en-US" dirty="0" smtClean="0"/>
          </a:p>
          <a:p>
            <a:r>
              <a:rPr lang="en-US" dirty="0" smtClean="0"/>
              <a:t>	1. Date:- Date</a:t>
            </a:r>
          </a:p>
          <a:p>
            <a:r>
              <a:rPr lang="en-US" dirty="0"/>
              <a:t>	</a:t>
            </a:r>
            <a:r>
              <a:rPr lang="en-US" dirty="0" smtClean="0"/>
              <a:t>2.Location:-Varchar</a:t>
            </a:r>
          </a:p>
          <a:p>
            <a:r>
              <a:rPr lang="en-US" dirty="0" smtClean="0"/>
              <a:t>	3. DC:- Varchar</a:t>
            </a:r>
          </a:p>
          <a:p>
            <a:r>
              <a:rPr lang="en-US" dirty="0"/>
              <a:t>	</a:t>
            </a:r>
            <a:r>
              <a:rPr lang="en-US" dirty="0" smtClean="0"/>
              <a:t>4.Optional Holiday:-Integer(0-No,1-Yes)</a:t>
            </a:r>
          </a:p>
          <a:p>
            <a:r>
              <a:rPr lang="en-US" dirty="0"/>
              <a:t>	5</a:t>
            </a:r>
            <a:r>
              <a:rPr lang="en-US" dirty="0" smtClean="0"/>
              <a:t>.Year:-Number</a:t>
            </a:r>
          </a:p>
          <a:p>
            <a:r>
              <a:rPr lang="en-US" dirty="0"/>
              <a:t>	</a:t>
            </a:r>
          </a:p>
          <a:p>
            <a:r>
              <a:rPr lang="en-US" dirty="0" smtClean="0"/>
              <a:t>Composite Primary Key:- Date+ Location+ DC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860229"/>
              </p:ext>
            </p:extLst>
          </p:nvPr>
        </p:nvGraphicFramePr>
        <p:xfrm>
          <a:off x="2018146" y="4183303"/>
          <a:ext cx="81280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09491208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16662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369371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415766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90390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Optional Holiday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662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26-Jan-2018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Bangalore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0/1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2018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915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280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09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2727" y="318655"/>
            <a:ext cx="10515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V. Leave Table</a:t>
            </a:r>
          </a:p>
          <a:p>
            <a:endParaRPr lang="en-US" dirty="0"/>
          </a:p>
          <a:p>
            <a:r>
              <a:rPr lang="en-US" dirty="0" smtClean="0"/>
              <a:t>	1.Employee No.:- Number</a:t>
            </a:r>
          </a:p>
          <a:p>
            <a:r>
              <a:rPr lang="en-US" dirty="0"/>
              <a:t>	</a:t>
            </a:r>
            <a:r>
              <a:rPr lang="en-US" dirty="0" smtClean="0"/>
              <a:t>2.Leave Type:-Integer(0-Optional,1-Regular)</a:t>
            </a:r>
          </a:p>
          <a:p>
            <a:r>
              <a:rPr lang="en-US" dirty="0"/>
              <a:t>	</a:t>
            </a:r>
            <a:r>
              <a:rPr lang="en-US" dirty="0" smtClean="0"/>
              <a:t>2.From:-  Date</a:t>
            </a:r>
          </a:p>
          <a:p>
            <a:r>
              <a:rPr lang="en-US" dirty="0"/>
              <a:t>	3</a:t>
            </a:r>
            <a:r>
              <a:rPr lang="en-US" dirty="0" smtClean="0"/>
              <a:t>.To:- Date</a:t>
            </a:r>
          </a:p>
          <a:p>
            <a:r>
              <a:rPr lang="en-US" dirty="0"/>
              <a:t>	4</a:t>
            </a:r>
            <a:r>
              <a:rPr lang="en-US" dirty="0" smtClean="0"/>
              <a:t>.Reason:- </a:t>
            </a:r>
            <a:r>
              <a:rPr lang="en-US" dirty="0"/>
              <a:t>Varchar</a:t>
            </a:r>
            <a:endParaRPr lang="en-US" dirty="0" smtClean="0"/>
          </a:p>
          <a:p>
            <a:r>
              <a:rPr lang="en-US" dirty="0"/>
              <a:t>	5</a:t>
            </a:r>
            <a:r>
              <a:rPr lang="en-US" dirty="0" smtClean="0"/>
              <a:t>.Approver:- Varchar</a:t>
            </a:r>
          </a:p>
          <a:p>
            <a:r>
              <a:rPr lang="en-US" dirty="0"/>
              <a:t>	6</a:t>
            </a:r>
            <a:r>
              <a:rPr lang="en-US" dirty="0" smtClean="0"/>
              <a:t>.Unit:- Varchar</a:t>
            </a:r>
          </a:p>
          <a:p>
            <a:r>
              <a:rPr lang="en-US" dirty="0"/>
              <a:t>	7</a:t>
            </a:r>
            <a:r>
              <a:rPr lang="en-US" dirty="0" smtClean="0"/>
              <a:t>.Status:- Integer(0-Submitted,1-Approved,2-Rejected) </a:t>
            </a:r>
          </a:p>
          <a:p>
            <a:r>
              <a:rPr lang="en-US" dirty="0"/>
              <a:t>	8</a:t>
            </a:r>
            <a:r>
              <a:rPr lang="en-US" dirty="0" smtClean="0"/>
              <a:t>.No.of Leaves:- Number</a:t>
            </a:r>
          </a:p>
          <a:p>
            <a:r>
              <a:rPr lang="en-US" dirty="0" smtClean="0"/>
              <a:t>	</a:t>
            </a:r>
            <a:r>
              <a:rPr lang="en-US" dirty="0"/>
              <a:t>9</a:t>
            </a:r>
            <a:r>
              <a:rPr lang="en-US" dirty="0" smtClean="0"/>
              <a:t>.Remarks:-</a:t>
            </a:r>
            <a:r>
              <a:rPr lang="en-US" dirty="0"/>
              <a:t> Varchar</a:t>
            </a:r>
            <a:endParaRPr lang="en-US" dirty="0" smtClean="0"/>
          </a:p>
          <a:p>
            <a:r>
              <a:rPr lang="en-US" dirty="0" smtClean="0"/>
              <a:t>	</a:t>
            </a:r>
            <a:endParaRPr lang="en-US" dirty="0"/>
          </a:p>
          <a:p>
            <a:r>
              <a:rPr lang="en-US" dirty="0" smtClean="0"/>
              <a:t>Primary Key:-Employee No</a:t>
            </a:r>
          </a:p>
          <a:p>
            <a:r>
              <a:rPr lang="en-US" dirty="0" smtClean="0"/>
              <a:t>Foreign Key:-Approver(From Employee)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858759"/>
              </p:ext>
            </p:extLst>
          </p:nvPr>
        </p:nvGraphicFramePr>
        <p:xfrm>
          <a:off x="456897" y="4842970"/>
          <a:ext cx="928852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435">
                  <a:extLst>
                    <a:ext uri="{9D8B030D-6E8A-4147-A177-3AD203B41FA5}">
                      <a16:colId xmlns:a16="http://schemas.microsoft.com/office/drawing/2014/main" val="573310637"/>
                    </a:ext>
                  </a:extLst>
                </a:gridCol>
                <a:gridCol w="1081435">
                  <a:extLst>
                    <a:ext uri="{9D8B030D-6E8A-4147-A177-3AD203B41FA5}">
                      <a16:colId xmlns:a16="http://schemas.microsoft.com/office/drawing/2014/main" val="2327240228"/>
                    </a:ext>
                  </a:extLst>
                </a:gridCol>
                <a:gridCol w="665019">
                  <a:extLst>
                    <a:ext uri="{9D8B030D-6E8A-4147-A177-3AD203B41FA5}">
                      <a16:colId xmlns:a16="http://schemas.microsoft.com/office/drawing/2014/main" val="677959162"/>
                    </a:ext>
                  </a:extLst>
                </a:gridCol>
                <a:gridCol w="584224">
                  <a:extLst>
                    <a:ext uri="{9D8B030D-6E8A-4147-A177-3AD203B41FA5}">
                      <a16:colId xmlns:a16="http://schemas.microsoft.com/office/drawing/2014/main" val="407507467"/>
                    </a:ext>
                  </a:extLst>
                </a:gridCol>
                <a:gridCol w="944701">
                  <a:extLst>
                    <a:ext uri="{9D8B030D-6E8A-4147-A177-3AD203B41FA5}">
                      <a16:colId xmlns:a16="http://schemas.microsoft.com/office/drawing/2014/main" val="1494092200"/>
                    </a:ext>
                  </a:extLst>
                </a:gridCol>
                <a:gridCol w="1201599">
                  <a:extLst>
                    <a:ext uri="{9D8B030D-6E8A-4147-A177-3AD203B41FA5}">
                      <a16:colId xmlns:a16="http://schemas.microsoft.com/office/drawing/2014/main" val="1289050863"/>
                    </a:ext>
                  </a:extLst>
                </a:gridCol>
                <a:gridCol w="930354">
                  <a:extLst>
                    <a:ext uri="{9D8B030D-6E8A-4147-A177-3AD203B41FA5}">
                      <a16:colId xmlns:a16="http://schemas.microsoft.com/office/drawing/2014/main" val="2548007855"/>
                    </a:ext>
                  </a:extLst>
                </a:gridCol>
                <a:gridCol w="1028286">
                  <a:extLst>
                    <a:ext uri="{9D8B030D-6E8A-4147-A177-3AD203B41FA5}">
                      <a16:colId xmlns:a16="http://schemas.microsoft.com/office/drawing/2014/main" val="3703788388"/>
                    </a:ext>
                  </a:extLst>
                </a:gridCol>
                <a:gridCol w="795697">
                  <a:extLst>
                    <a:ext uri="{9D8B030D-6E8A-4147-A177-3AD203B41FA5}">
                      <a16:colId xmlns:a16="http://schemas.microsoft.com/office/drawing/2014/main" val="2347169269"/>
                    </a:ext>
                  </a:extLst>
                </a:gridCol>
                <a:gridCol w="975775">
                  <a:extLst>
                    <a:ext uri="{9D8B030D-6E8A-4147-A177-3AD203B41FA5}">
                      <a16:colId xmlns:a16="http://schemas.microsoft.com/office/drawing/2014/main" val="1244535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</a:t>
                      </a:r>
                    </a:p>
                    <a:p>
                      <a:r>
                        <a:rPr lang="en-US" dirty="0" smtClean="0"/>
                        <a:t> No.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Leave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Reason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Approver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No.</a:t>
                      </a:r>
                      <a:r>
                        <a:rPr lang="en-US" baseline="0" dirty="0" smtClean="0"/>
                        <a:t> of Leaves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623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1008827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21-Jan-2019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25-Jan-2019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717659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FSADM2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192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306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60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7309" y="55682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VI. Leave Account Balance </a:t>
            </a:r>
            <a:r>
              <a:rPr lang="en-US" dirty="0"/>
              <a:t>Table</a:t>
            </a:r>
          </a:p>
          <a:p>
            <a:endParaRPr lang="en-US" dirty="0"/>
          </a:p>
          <a:p>
            <a:r>
              <a:rPr lang="en-US" dirty="0"/>
              <a:t>	1.Employee No</a:t>
            </a:r>
            <a:r>
              <a:rPr lang="en-US" dirty="0" smtClean="0"/>
              <a:t>.:- Number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smtClean="0"/>
              <a:t>2.Leave Account:- </a:t>
            </a:r>
            <a:r>
              <a:rPr lang="en-US" dirty="0"/>
              <a:t>Varchar</a:t>
            </a:r>
          </a:p>
          <a:p>
            <a:r>
              <a:rPr lang="en-US" dirty="0"/>
              <a:t>	</a:t>
            </a:r>
            <a:r>
              <a:rPr lang="en-US" dirty="0" smtClean="0"/>
              <a:t>3.Credit:- Number</a:t>
            </a:r>
          </a:p>
          <a:p>
            <a:r>
              <a:rPr lang="en-US" dirty="0"/>
              <a:t>	</a:t>
            </a:r>
            <a:r>
              <a:rPr lang="en-US" dirty="0" smtClean="0"/>
              <a:t>4.Debit:- Number</a:t>
            </a:r>
          </a:p>
          <a:p>
            <a:r>
              <a:rPr lang="en-US" dirty="0"/>
              <a:t>	</a:t>
            </a:r>
            <a:r>
              <a:rPr lang="en-US" dirty="0" smtClean="0"/>
              <a:t>5.Balance:- Number</a:t>
            </a:r>
            <a:endParaRPr lang="en-US" dirty="0"/>
          </a:p>
          <a:p>
            <a:r>
              <a:rPr lang="en-US" dirty="0"/>
              <a:t>	</a:t>
            </a:r>
          </a:p>
          <a:p>
            <a:r>
              <a:rPr lang="en-US" dirty="0"/>
              <a:t>Primary Key:-Employee No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23058"/>
              </p:ext>
            </p:extLst>
          </p:nvPr>
        </p:nvGraphicFramePr>
        <p:xfrm>
          <a:off x="526474" y="4086321"/>
          <a:ext cx="110143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872">
                  <a:extLst>
                    <a:ext uri="{9D8B030D-6E8A-4147-A177-3AD203B41FA5}">
                      <a16:colId xmlns:a16="http://schemas.microsoft.com/office/drawing/2014/main" val="1261482017"/>
                    </a:ext>
                  </a:extLst>
                </a:gridCol>
                <a:gridCol w="2202872">
                  <a:extLst>
                    <a:ext uri="{9D8B030D-6E8A-4147-A177-3AD203B41FA5}">
                      <a16:colId xmlns:a16="http://schemas.microsoft.com/office/drawing/2014/main" val="3149120272"/>
                    </a:ext>
                  </a:extLst>
                </a:gridCol>
                <a:gridCol w="2202872">
                  <a:extLst>
                    <a:ext uri="{9D8B030D-6E8A-4147-A177-3AD203B41FA5}">
                      <a16:colId xmlns:a16="http://schemas.microsoft.com/office/drawing/2014/main" val="3332434678"/>
                    </a:ext>
                  </a:extLst>
                </a:gridCol>
                <a:gridCol w="2202872">
                  <a:extLst>
                    <a:ext uri="{9D8B030D-6E8A-4147-A177-3AD203B41FA5}">
                      <a16:colId xmlns:a16="http://schemas.microsoft.com/office/drawing/2014/main" val="1199866045"/>
                    </a:ext>
                  </a:extLst>
                </a:gridCol>
                <a:gridCol w="2202872">
                  <a:extLst>
                    <a:ext uri="{9D8B030D-6E8A-4147-A177-3AD203B41FA5}">
                      <a16:colId xmlns:a16="http://schemas.microsoft.com/office/drawing/2014/main" val="2895278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Employee No.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Leave Account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Credit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Debit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Balance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91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1008676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9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843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09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8582" y="263237"/>
            <a:ext cx="84789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VII. Revenue Transfer Table</a:t>
            </a:r>
          </a:p>
          <a:p>
            <a:r>
              <a:rPr lang="en-US" dirty="0" smtClean="0"/>
              <a:t>	</a:t>
            </a:r>
            <a:r>
              <a:rPr lang="en-US" dirty="0"/>
              <a:t> 1.Employee No </a:t>
            </a:r>
            <a:r>
              <a:rPr lang="en-US" dirty="0" smtClean="0"/>
              <a:t>:-Number</a:t>
            </a:r>
          </a:p>
          <a:p>
            <a:r>
              <a:rPr lang="en-US" dirty="0"/>
              <a:t>	</a:t>
            </a:r>
            <a:r>
              <a:rPr lang="en-US" dirty="0" smtClean="0"/>
              <a:t>2.Track:-Varchar</a:t>
            </a:r>
          </a:p>
          <a:p>
            <a:r>
              <a:rPr lang="en-US" dirty="0"/>
              <a:t>	</a:t>
            </a:r>
            <a:r>
              <a:rPr lang="en-US" dirty="0" smtClean="0"/>
              <a:t>3.Application:-</a:t>
            </a:r>
            <a:r>
              <a:rPr lang="en-US" dirty="0"/>
              <a:t> Varchar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4.Billing Start Date:-Date</a:t>
            </a:r>
          </a:p>
          <a:p>
            <a:r>
              <a:rPr lang="en-US" dirty="0"/>
              <a:t>	</a:t>
            </a:r>
            <a:r>
              <a:rPr lang="en-US" dirty="0" smtClean="0"/>
              <a:t>5.Emp Name:-</a:t>
            </a:r>
            <a:r>
              <a:rPr lang="en-US" dirty="0"/>
              <a:t> Varchar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6.Location:-</a:t>
            </a:r>
            <a:r>
              <a:rPr lang="en-US" dirty="0"/>
              <a:t> Varchar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7.Rate per Hour:-Number</a:t>
            </a:r>
          </a:p>
          <a:p>
            <a:r>
              <a:rPr lang="en-US" dirty="0"/>
              <a:t>	</a:t>
            </a:r>
            <a:r>
              <a:rPr lang="en-US" dirty="0" smtClean="0"/>
              <a:t>8.Daily Rate:-Number</a:t>
            </a:r>
          </a:p>
          <a:p>
            <a:r>
              <a:rPr lang="en-US" dirty="0"/>
              <a:t>	</a:t>
            </a:r>
            <a:r>
              <a:rPr lang="en-US" dirty="0" smtClean="0"/>
              <a:t>9.Date wise effort()</a:t>
            </a:r>
          </a:p>
          <a:p>
            <a:r>
              <a:rPr lang="en-US" dirty="0"/>
              <a:t>	</a:t>
            </a:r>
            <a:r>
              <a:rPr lang="en-US" dirty="0" smtClean="0"/>
              <a:t>	Day</a:t>
            </a:r>
          </a:p>
          <a:p>
            <a:r>
              <a:rPr lang="en-US" dirty="0"/>
              <a:t>	</a:t>
            </a:r>
            <a:r>
              <a:rPr lang="en-US" dirty="0" smtClean="0"/>
              <a:t>         Dates-Months(30 columns)</a:t>
            </a:r>
          </a:p>
          <a:p>
            <a:r>
              <a:rPr lang="en-US" dirty="0"/>
              <a:t>	</a:t>
            </a:r>
            <a:r>
              <a:rPr lang="en-US" dirty="0" smtClean="0"/>
              <a:t>10.Months Effort:-Number</a:t>
            </a:r>
          </a:p>
          <a:p>
            <a:r>
              <a:rPr lang="en-US" dirty="0"/>
              <a:t>	</a:t>
            </a:r>
            <a:r>
              <a:rPr lang="en-US" dirty="0" smtClean="0"/>
              <a:t>11.Month amount:-Number</a:t>
            </a:r>
          </a:p>
          <a:p>
            <a:r>
              <a:rPr lang="en-US" dirty="0"/>
              <a:t>	</a:t>
            </a:r>
            <a:r>
              <a:rPr lang="en-US" dirty="0" smtClean="0"/>
              <a:t>12.Adjustment for previous month:-Number</a:t>
            </a:r>
          </a:p>
          <a:p>
            <a:r>
              <a:rPr lang="en-US" dirty="0"/>
              <a:t>	</a:t>
            </a:r>
            <a:r>
              <a:rPr lang="en-US" dirty="0" smtClean="0"/>
              <a:t>13.Net Billable Amount:-Number</a:t>
            </a:r>
          </a:p>
          <a:p>
            <a:r>
              <a:rPr lang="en-US" dirty="0"/>
              <a:t>	</a:t>
            </a:r>
            <a:r>
              <a:rPr lang="en-US" dirty="0" smtClean="0"/>
              <a:t>14.Remarks:-Varchar</a:t>
            </a:r>
          </a:p>
          <a:p>
            <a:endParaRPr lang="en-US" dirty="0" smtClean="0"/>
          </a:p>
          <a:p>
            <a:r>
              <a:rPr lang="en-US" dirty="0" smtClean="0"/>
              <a:t>Primary Key:-</a:t>
            </a:r>
            <a:r>
              <a:rPr lang="en-US" dirty="0"/>
              <a:t> </a:t>
            </a:r>
            <a:r>
              <a:rPr lang="en-US" dirty="0" smtClean="0"/>
              <a:t>Employee </a:t>
            </a:r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998359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582" y="1039091"/>
            <a:ext cx="104463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VIII. Task Order Table</a:t>
            </a:r>
          </a:p>
          <a:p>
            <a:r>
              <a:rPr lang="en-US" dirty="0"/>
              <a:t>	</a:t>
            </a:r>
            <a:r>
              <a:rPr lang="en-US" dirty="0" smtClean="0"/>
              <a:t>1.Deliverable Description:-Varchar</a:t>
            </a:r>
          </a:p>
          <a:p>
            <a:r>
              <a:rPr lang="en-US" dirty="0"/>
              <a:t>	</a:t>
            </a:r>
            <a:r>
              <a:rPr lang="en-US" dirty="0" smtClean="0"/>
              <a:t>2.Role:-Varchar</a:t>
            </a:r>
          </a:p>
          <a:p>
            <a:r>
              <a:rPr lang="en-US" dirty="0"/>
              <a:t>	</a:t>
            </a:r>
            <a:r>
              <a:rPr lang="en-US" dirty="0" smtClean="0"/>
              <a:t>3.Location:-Varchar</a:t>
            </a:r>
          </a:p>
          <a:p>
            <a:r>
              <a:rPr lang="en-US" dirty="0"/>
              <a:t>	</a:t>
            </a:r>
            <a:r>
              <a:rPr lang="en-US" dirty="0" smtClean="0"/>
              <a:t>4.No of Personnel Resources:-Number</a:t>
            </a:r>
          </a:p>
          <a:p>
            <a:r>
              <a:rPr lang="en-US" dirty="0"/>
              <a:t>	</a:t>
            </a:r>
            <a:r>
              <a:rPr lang="en-US" dirty="0" smtClean="0"/>
              <a:t>5.No of Hours per role:-Number</a:t>
            </a:r>
          </a:p>
          <a:p>
            <a:r>
              <a:rPr lang="en-US" dirty="0"/>
              <a:t>	</a:t>
            </a:r>
            <a:r>
              <a:rPr lang="en-US" dirty="0" smtClean="0"/>
              <a:t>6.Discounted Hourly Rate:-Number</a:t>
            </a:r>
          </a:p>
          <a:p>
            <a:r>
              <a:rPr lang="en-US" dirty="0"/>
              <a:t>	</a:t>
            </a:r>
            <a:r>
              <a:rPr lang="en-US" dirty="0" smtClean="0"/>
              <a:t>7.Discounted cost per role:-Number</a:t>
            </a:r>
          </a:p>
          <a:p>
            <a:endParaRPr lang="en-US" dirty="0" smtClean="0"/>
          </a:p>
          <a:p>
            <a:r>
              <a:rPr lang="en-US" dirty="0" smtClean="0"/>
              <a:t>Composite Primary Key:-Deliverable Description + Role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584234"/>
              </p:ext>
            </p:extLst>
          </p:nvPr>
        </p:nvGraphicFramePr>
        <p:xfrm>
          <a:off x="498763" y="4751337"/>
          <a:ext cx="10986654" cy="1489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522">
                  <a:extLst>
                    <a:ext uri="{9D8B030D-6E8A-4147-A177-3AD203B41FA5}">
                      <a16:colId xmlns:a16="http://schemas.microsoft.com/office/drawing/2014/main" val="1760225671"/>
                    </a:ext>
                  </a:extLst>
                </a:gridCol>
                <a:gridCol w="1569522">
                  <a:extLst>
                    <a:ext uri="{9D8B030D-6E8A-4147-A177-3AD203B41FA5}">
                      <a16:colId xmlns:a16="http://schemas.microsoft.com/office/drawing/2014/main" val="3469103092"/>
                    </a:ext>
                  </a:extLst>
                </a:gridCol>
                <a:gridCol w="1569522">
                  <a:extLst>
                    <a:ext uri="{9D8B030D-6E8A-4147-A177-3AD203B41FA5}">
                      <a16:colId xmlns:a16="http://schemas.microsoft.com/office/drawing/2014/main" val="1940006205"/>
                    </a:ext>
                  </a:extLst>
                </a:gridCol>
                <a:gridCol w="1569522">
                  <a:extLst>
                    <a:ext uri="{9D8B030D-6E8A-4147-A177-3AD203B41FA5}">
                      <a16:colId xmlns:a16="http://schemas.microsoft.com/office/drawing/2014/main" val="1869605969"/>
                    </a:ext>
                  </a:extLst>
                </a:gridCol>
                <a:gridCol w="1569522">
                  <a:extLst>
                    <a:ext uri="{9D8B030D-6E8A-4147-A177-3AD203B41FA5}">
                      <a16:colId xmlns:a16="http://schemas.microsoft.com/office/drawing/2014/main" val="2238919238"/>
                    </a:ext>
                  </a:extLst>
                </a:gridCol>
                <a:gridCol w="1569522">
                  <a:extLst>
                    <a:ext uri="{9D8B030D-6E8A-4147-A177-3AD203B41FA5}">
                      <a16:colId xmlns:a16="http://schemas.microsoft.com/office/drawing/2014/main" val="3427097652"/>
                    </a:ext>
                  </a:extLst>
                </a:gridCol>
                <a:gridCol w="1569522">
                  <a:extLst>
                    <a:ext uri="{9D8B030D-6E8A-4147-A177-3AD203B41FA5}">
                      <a16:colId xmlns:a16="http://schemas.microsoft.com/office/drawing/2014/main" val="2320963702"/>
                    </a:ext>
                  </a:extLst>
                </a:gridCol>
              </a:tblGrid>
              <a:tr h="575349">
                <a:tc>
                  <a:txBody>
                    <a:bodyPr/>
                    <a:lstStyle/>
                    <a:p>
                      <a:r>
                        <a:rPr lang="en-US" dirty="0" smtClean="0"/>
                        <a:t>Deliverable</a:t>
                      </a:r>
                    </a:p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of Personnel 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of Hours per role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Discounted Hourly 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Discounted</a:t>
                      </a:r>
                      <a:r>
                        <a:rPr lang="en-US" baseline="0" dirty="0" smtClean="0"/>
                        <a:t> cost per role(INR)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209632"/>
                  </a:ext>
                </a:extLst>
              </a:tr>
              <a:tr h="575349">
                <a:tc>
                  <a:txBody>
                    <a:bodyPr/>
                    <a:lstStyle/>
                    <a:p>
                      <a:r>
                        <a:rPr lang="en-US" dirty="0" smtClean="0"/>
                        <a:t>QA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INR</a:t>
                      </a:r>
                      <a:r>
                        <a:rPr lang="en-US" baseline="0" dirty="0" smtClean="0"/>
                        <a:t> 20.68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3594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550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38105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332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9634" y="574766"/>
            <a:ext cx="115998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IX . Location Table</a:t>
            </a:r>
          </a:p>
          <a:p>
            <a:r>
              <a:rPr lang="en-US" dirty="0"/>
              <a:t>	</a:t>
            </a:r>
            <a:r>
              <a:rPr lang="en-US" dirty="0" smtClean="0"/>
              <a:t>1.Country:-Varchar</a:t>
            </a:r>
          </a:p>
          <a:p>
            <a:r>
              <a:rPr lang="en-US" dirty="0"/>
              <a:t>	</a:t>
            </a:r>
            <a:r>
              <a:rPr lang="en-US" dirty="0" smtClean="0"/>
              <a:t>2.City:-Varchar</a:t>
            </a:r>
          </a:p>
          <a:p>
            <a:r>
              <a:rPr lang="en-US" dirty="0"/>
              <a:t>	</a:t>
            </a:r>
            <a:r>
              <a:rPr lang="en-US" dirty="0" smtClean="0"/>
              <a:t>3.DC:-Varchar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753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7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</TotalTime>
  <Words>425</Words>
  <Application>Microsoft Office PowerPoint</Application>
  <PresentationFormat>Widescreen</PresentationFormat>
  <Paragraphs>311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Wingdings</vt:lpstr>
      <vt:lpstr>Office Theme</vt:lpstr>
      <vt:lpstr>PowerPoint Presentation</vt:lpstr>
      <vt:lpstr>2.Employee DashBoard</vt:lpstr>
      <vt:lpstr>PowerPoint Presentation</vt:lpstr>
      <vt:lpstr>PowerPoint Presentation</vt:lpstr>
      <vt:lpstr>4.Cancel Approved Leaves</vt:lpstr>
      <vt:lpstr>PowerPoint Presentation</vt:lpstr>
      <vt:lpstr>6.Manager DashBoard</vt:lpstr>
      <vt:lpstr>9.Add/Delete Employees</vt:lpstr>
      <vt:lpstr>PowerPoint Presentation</vt:lpstr>
      <vt:lpstr>10.Update Roles and Rates</vt:lpstr>
      <vt:lpstr>PowerPoint Presentation</vt:lpstr>
      <vt:lpstr>11.Update Timesheet</vt:lpstr>
      <vt:lpstr>15.Upload RT Sheet</vt:lpstr>
      <vt:lpstr>16.Admin Login</vt:lpstr>
      <vt:lpstr>17.Update Holiday List</vt:lpstr>
      <vt:lpstr>18.Add/Delete Managers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Infosys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Shrivastava</dc:creator>
  <cp:lastModifiedBy>Aayush Shrivastava</cp:lastModifiedBy>
  <cp:revision>175</cp:revision>
  <dcterms:created xsi:type="dcterms:W3CDTF">2018-12-19T09:07:29Z</dcterms:created>
  <dcterms:modified xsi:type="dcterms:W3CDTF">2019-01-04T08:45:57Z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4b3411-284d-4d31-bd4f-bc13ef7f1fd6_Enabled">
    <vt:lpwstr>True</vt:lpwstr>
  </property>
  <property fmtid="{D5CDD505-2E9C-101B-9397-08002B2CF9AE}" pid="3" name="MSIP_Label_be4b3411-284d-4d31-bd4f-bc13ef7f1fd6_SiteId">
    <vt:lpwstr>63ce7d59-2f3e-42cd-a8cc-be764cff5eb6</vt:lpwstr>
  </property>
  <property fmtid="{D5CDD505-2E9C-101B-9397-08002B2CF9AE}" pid="4" name="MSIP_Label_be4b3411-284d-4d31-bd4f-bc13ef7f1fd6_Owner">
    <vt:lpwstr>aayush.shrivastava@ad.infosys.com</vt:lpwstr>
  </property>
  <property fmtid="{D5CDD505-2E9C-101B-9397-08002B2CF9AE}" pid="5" name="MSIP_Label_be4b3411-284d-4d31-bd4f-bc13ef7f1fd6_SetDate">
    <vt:lpwstr>2018-12-19T10:00:36.4438547Z</vt:lpwstr>
  </property>
  <property fmtid="{D5CDD505-2E9C-101B-9397-08002B2CF9AE}" pid="6" name="MSIP_Label_be4b3411-284d-4d31-bd4f-bc13ef7f1fd6_Name">
    <vt:lpwstr>Internal</vt:lpwstr>
  </property>
  <property fmtid="{D5CDD505-2E9C-101B-9397-08002B2CF9AE}" pid="7" name="MSIP_Label_be4b3411-284d-4d31-bd4f-bc13ef7f1fd6_Application">
    <vt:lpwstr>Microsoft Azure Information Protection</vt:lpwstr>
  </property>
  <property fmtid="{D5CDD505-2E9C-101B-9397-08002B2CF9AE}" pid="8" name="MSIP_Label_be4b3411-284d-4d31-bd4f-bc13ef7f1fd6_Extended_MSFT_Method">
    <vt:lpwstr>Automatic</vt:lpwstr>
  </property>
  <property fmtid="{D5CDD505-2E9C-101B-9397-08002B2CF9AE}" pid="9" name="MSIP_Label_a0819fa7-4367-4500-ba88-dd630d977609_Enabled">
    <vt:lpwstr>True</vt:lpwstr>
  </property>
  <property fmtid="{D5CDD505-2E9C-101B-9397-08002B2CF9AE}" pid="10" name="MSIP_Label_a0819fa7-4367-4500-ba88-dd630d977609_SiteId">
    <vt:lpwstr>63ce7d59-2f3e-42cd-a8cc-be764cff5eb6</vt:lpwstr>
  </property>
  <property fmtid="{D5CDD505-2E9C-101B-9397-08002B2CF9AE}" pid="11" name="MSIP_Label_a0819fa7-4367-4500-ba88-dd630d977609_Owner">
    <vt:lpwstr>aayush.shrivastava@ad.infosys.com</vt:lpwstr>
  </property>
  <property fmtid="{D5CDD505-2E9C-101B-9397-08002B2CF9AE}" pid="12" name="MSIP_Label_a0819fa7-4367-4500-ba88-dd630d977609_SetDate">
    <vt:lpwstr>2018-12-19T10:00:36.4438547Z</vt:lpwstr>
  </property>
  <property fmtid="{D5CDD505-2E9C-101B-9397-08002B2CF9AE}" pid="13" name="MSIP_Label_a0819fa7-4367-4500-ba88-dd630d977609_Name">
    <vt:lpwstr>Companywide usage</vt:lpwstr>
  </property>
  <property fmtid="{D5CDD505-2E9C-101B-9397-08002B2CF9AE}" pid="14" name="MSIP_Label_a0819fa7-4367-4500-ba88-dd630d977609_Application">
    <vt:lpwstr>Microsoft Azure Information Protection</vt:lpwstr>
  </property>
  <property fmtid="{D5CDD505-2E9C-101B-9397-08002B2CF9AE}" pid="15" name="MSIP_Label_a0819fa7-4367-4500-ba88-dd630d977609_Parent">
    <vt:lpwstr>be4b3411-284d-4d31-bd4f-bc13ef7f1fd6</vt:lpwstr>
  </property>
  <property fmtid="{D5CDD505-2E9C-101B-9397-08002B2CF9AE}" pid="16" name="MSIP_Label_a0819fa7-4367-4500-ba88-dd630d977609_Extended_MSFT_Method">
    <vt:lpwstr>Automatic</vt:lpwstr>
  </property>
  <property fmtid="{D5CDD505-2E9C-101B-9397-08002B2CF9AE}" pid="17" name="Sensitivity">
    <vt:lpwstr>Internal Companywide usage</vt:lpwstr>
  </property>
</Properties>
</file>
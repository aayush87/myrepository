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sldIdLst>
    <p:sldId id="256" r:id="rId2"/>
    <p:sldId id="257" r:id="rId3"/>
    <p:sldId id="303" r:id="rId4"/>
    <p:sldId id="318" r:id="rId5"/>
    <p:sldId id="258" r:id="rId6"/>
    <p:sldId id="304" r:id="rId7"/>
    <p:sldId id="260" r:id="rId8"/>
    <p:sldId id="261" r:id="rId9"/>
    <p:sldId id="305" r:id="rId10"/>
    <p:sldId id="263" r:id="rId11"/>
    <p:sldId id="266" r:id="rId12"/>
    <p:sldId id="306" r:id="rId13"/>
    <p:sldId id="267" r:id="rId14"/>
    <p:sldId id="308" r:id="rId15"/>
    <p:sldId id="317" r:id="rId16"/>
    <p:sldId id="268" r:id="rId17"/>
    <p:sldId id="286" r:id="rId18"/>
    <p:sldId id="287" r:id="rId19"/>
    <p:sldId id="288" r:id="rId20"/>
    <p:sldId id="290" r:id="rId21"/>
    <p:sldId id="307" r:id="rId22"/>
    <p:sldId id="272" r:id="rId23"/>
    <p:sldId id="273" r:id="rId24"/>
    <p:sldId id="316" r:id="rId25"/>
    <p:sldId id="284" r:id="rId26"/>
    <p:sldId id="315" r:id="rId27"/>
    <p:sldId id="283" r:id="rId28"/>
    <p:sldId id="314" r:id="rId29"/>
    <p:sldId id="274" r:id="rId30"/>
    <p:sldId id="313" r:id="rId31"/>
    <p:sldId id="275" r:id="rId32"/>
    <p:sldId id="312" r:id="rId33"/>
    <p:sldId id="277" r:id="rId34"/>
    <p:sldId id="298" r:id="rId35"/>
    <p:sldId id="281" r:id="rId36"/>
    <p:sldId id="311" r:id="rId37"/>
    <p:sldId id="282" r:id="rId38"/>
    <p:sldId id="310" r:id="rId39"/>
    <p:sldId id="291" r:id="rId40"/>
    <p:sldId id="309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00" autoAdjust="0"/>
    <p:restoredTop sz="94027" autoAdjust="0"/>
  </p:normalViewPr>
  <p:slideViewPr>
    <p:cSldViewPr snapToGrid="0">
      <p:cViewPr varScale="1">
        <p:scale>
          <a:sx n="69" d="100"/>
          <a:sy n="69" d="100"/>
        </p:scale>
        <p:origin x="7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4806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122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63961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698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62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673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0569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4827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6311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664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591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E96F0-8ECD-46AC-AE86-93CF6995CF05}" type="datetimeFigureOut">
              <a:rPr lang="en-US" smtClean="0"/>
              <a:t>1/4/2019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4BCF7-E5FD-41B0-AEB4-2F73DBF10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62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mailto:ab@ad.nf" TargetMode="Externa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8473" y="2900642"/>
            <a:ext cx="7957821" cy="1646302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Employee Portal Using Angular 5 &amp; Mongo DB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72746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1.Login Screen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endParaRPr lang="en-US" dirty="0" smtClean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smtClean="0"/>
              <a:t>							</a:t>
            </a:r>
            <a:r>
              <a:rPr lang="en-US" sz="3000" dirty="0" smtClean="0"/>
              <a:t> </a:t>
            </a:r>
            <a:r>
              <a:rPr lang="en-US" sz="3000" dirty="0"/>
              <a:t>Employee </a:t>
            </a:r>
            <a:r>
              <a:rPr lang="en-US" dirty="0" smtClean="0"/>
              <a:t>			</a:t>
            </a:r>
            <a:r>
              <a:rPr lang="en-US" sz="2800" dirty="0" smtClean="0"/>
              <a:t>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			</a:t>
            </a:r>
            <a:r>
              <a:rPr lang="en-US" sz="4000" dirty="0" smtClean="0"/>
              <a:t>Login				</a:t>
            </a:r>
            <a:r>
              <a:rPr lang="en-US" sz="3000" dirty="0" smtClean="0"/>
              <a:t>Admin</a:t>
            </a:r>
            <a:endParaRPr lang="en-US" sz="3000" i="1" dirty="0" smtClean="0"/>
          </a:p>
          <a:p>
            <a:pPr marL="0" indent="0">
              <a:buNone/>
            </a:pPr>
            <a:r>
              <a:rPr lang="en-US" i="1" dirty="0" smtClean="0"/>
              <a:t>													</a:t>
            </a:r>
          </a:p>
          <a:p>
            <a:pPr marL="0" indent="0">
              <a:buNone/>
            </a:pPr>
            <a:r>
              <a:rPr lang="en-US" i="1" dirty="0" smtClean="0"/>
              <a:t>								Manager</a:t>
            </a:r>
            <a:endParaRPr lang="en-US" i="1" dirty="0"/>
          </a:p>
          <a:p>
            <a:pPr marL="0" indent="0">
              <a:buNone/>
            </a:pPr>
            <a:r>
              <a:rPr lang="en-US" i="1" dirty="0" smtClean="0"/>
              <a:t>																</a:t>
            </a:r>
            <a:endParaRPr lang="en-US" i="1" dirty="0"/>
          </a:p>
        </p:txBody>
      </p:sp>
      <p:cxnSp>
        <p:nvCxnSpPr>
          <p:cNvPr id="7" name="Straight Arrow Connector 6"/>
          <p:cNvCxnSpPr/>
          <p:nvPr/>
        </p:nvCxnSpPr>
        <p:spPr>
          <a:xfrm flipV="1">
            <a:off x="5140037" y="2895600"/>
            <a:ext cx="2840182" cy="598446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5140037" y="4469429"/>
            <a:ext cx="2840182" cy="65647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V="1">
            <a:off x="5140037" y="3927748"/>
            <a:ext cx="2992581" cy="147091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19102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94154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1880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2.Employee </a:t>
            </a:r>
            <a:r>
              <a:rPr lang="en-US" dirty="0" err="1" smtClean="0"/>
              <a:t>DashBoard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1575084" y="3144652"/>
            <a:ext cx="2667870" cy="52322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</a:rPr>
              <a:t>Apply Leave</a:t>
            </a:r>
            <a:endParaRPr lang="en-US" sz="2800" b="0" cap="none" spc="0" dirty="0">
              <a:ln w="0"/>
              <a:gradFill>
                <a:gsLst>
                  <a:gs pos="0">
                    <a:schemeClr val="accent5">
                      <a:lumMod val="50000"/>
                    </a:schemeClr>
                  </a:gs>
                  <a:gs pos="50000">
                    <a:schemeClr val="accent5"/>
                  </a:gs>
                  <a:gs pos="100000">
                    <a:schemeClr val="accent5">
                      <a:lumMod val="60000"/>
                      <a:lumOff val="40000"/>
                    </a:schemeClr>
                  </a:gs>
                </a:gsLst>
                <a:lin ang="5400000"/>
              </a:gradFill>
              <a:effectLst>
                <a:reflection blurRad="6350" stA="53000" endA="300" endPos="35500" dir="5400000" sy="-90000" algn="bl" rotWithShape="0"/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450393" y="4986899"/>
            <a:ext cx="2917252" cy="138499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dirty="0" smtClean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Cancel Approved Leaves</a:t>
            </a:r>
            <a:endParaRPr lang="en-US" sz="28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897089" y="2557634"/>
            <a:ext cx="1944947" cy="156966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b="0" cap="none" spc="0" dirty="0" smtClean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Apply Optional Holiday</a:t>
            </a:r>
            <a:endParaRPr lang="en-US" sz="32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833125" y="4859303"/>
            <a:ext cx="2658100" cy="95410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Planned Leaves</a:t>
            </a:r>
          </a:p>
          <a:p>
            <a:pPr algn="ctr"/>
            <a:r>
              <a:rPr lang="en-US" sz="28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(Shown Here)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76278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63591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207819"/>
            <a:ext cx="10406302" cy="6525490"/>
          </a:xfrm>
        </p:spPr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6300" dirty="0" smtClean="0"/>
              <a:t>3.Apply Leave Page</a:t>
            </a:r>
          </a:p>
          <a:p>
            <a:pPr marL="0" indent="0">
              <a:buNone/>
            </a:pPr>
            <a:endParaRPr lang="en-US" sz="2800" b="1" dirty="0" smtClean="0"/>
          </a:p>
          <a:p>
            <a:pPr marL="0" indent="0">
              <a:buNone/>
            </a:pPr>
            <a:r>
              <a:rPr lang="en-US" sz="2800" b="1" dirty="0" smtClean="0"/>
              <a:t>Leave Application:-                                                                 </a:t>
            </a:r>
            <a:r>
              <a:rPr lang="en-US" b="1" dirty="0">
                <a:sym typeface="Wingdings" panose="05000000000000000000" pitchFamily="2" charset="2"/>
              </a:rPr>
              <a:t>Holiday </a:t>
            </a:r>
            <a:r>
              <a:rPr lang="en-US" b="1" dirty="0" smtClean="0">
                <a:sym typeface="Wingdings" panose="05000000000000000000" pitchFamily="2" charset="2"/>
              </a:rPr>
              <a:t>Calendar</a:t>
            </a:r>
          </a:p>
          <a:p>
            <a:pPr marL="0" indent="0">
              <a:buNone/>
            </a:pPr>
            <a:r>
              <a:rPr lang="en-US" b="1" dirty="0">
                <a:sym typeface="Wingdings" panose="05000000000000000000" pitchFamily="2" charset="2"/>
              </a:rPr>
              <a:t> </a:t>
            </a:r>
            <a:r>
              <a:rPr lang="en-US" b="1" dirty="0" smtClean="0">
                <a:sym typeface="Wingdings" panose="05000000000000000000" pitchFamily="2" charset="2"/>
              </a:rPr>
              <a:t>                                                                                          </a:t>
            </a:r>
            <a:r>
              <a:rPr lang="en-US" b="1" dirty="0" smtClean="0">
                <a:sym typeface="Wingdings" panose="05000000000000000000" pitchFamily="2" charset="2"/>
              </a:rPr>
              <a:t>    </a:t>
            </a:r>
            <a:r>
              <a:rPr lang="en-US" dirty="0">
                <a:sym typeface="Wingdings" panose="05000000000000000000" pitchFamily="2" charset="2"/>
              </a:rPr>
              <a:t>Year:- </a:t>
            </a:r>
            <a:r>
              <a:rPr lang="en-US" dirty="0" smtClean="0">
                <a:sym typeface="Wingdings" panose="05000000000000000000" pitchFamily="2" charset="2"/>
              </a:rPr>
              <a:t>Dropdown                                                                                                                               							</a:t>
            </a:r>
            <a:r>
              <a:rPr lang="en-US" dirty="0" smtClean="0">
                <a:sym typeface="Wingdings" panose="05000000000000000000" pitchFamily="2" charset="2"/>
              </a:rPr>
              <a:t>         </a:t>
            </a:r>
            <a:r>
              <a:rPr lang="en-US" dirty="0" smtClean="0">
                <a:sym typeface="Wingdings" panose="05000000000000000000" pitchFamily="2" charset="2"/>
              </a:rPr>
              <a:t>DC:- Automatic 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>
                <a:sym typeface="Wingdings" panose="05000000000000000000" pitchFamily="2" charset="2"/>
              </a:rPr>
              <a:t>From date:-Calendar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>
                <a:sym typeface="Wingdings" panose="05000000000000000000" pitchFamily="2" charset="2"/>
              </a:rPr>
              <a:t>To Date:-Calendar		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>
                <a:sym typeface="Wingdings" panose="05000000000000000000" pitchFamily="2" charset="2"/>
              </a:rPr>
              <a:t>Reason for Leave:-Textbox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>
                <a:sym typeface="Wingdings" panose="05000000000000000000" pitchFamily="2" charset="2"/>
              </a:rPr>
              <a:t>To be approved by:-Filled Automatically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smtClean="0">
                <a:sym typeface="Wingdings" panose="05000000000000000000" pitchFamily="2" charset="2"/>
              </a:rPr>
              <a:t>Optional Holiday:-Yes/No</a:t>
            </a:r>
            <a:endParaRPr lang="en-US" sz="2800" dirty="0" smtClean="0">
              <a:sym typeface="Wingdings" panose="05000000000000000000" pitchFamily="2" charset="2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>
                <a:sym typeface="Wingdings" panose="05000000000000000000" pitchFamily="2" charset="2"/>
              </a:rPr>
              <a:t>Apply &amp; Reset</a:t>
            </a:r>
          </a:p>
          <a:p>
            <a:pPr marL="0" indent="0">
              <a:buNone/>
            </a:pPr>
            <a:endParaRPr lang="en-US" sz="2800" b="1" dirty="0" smtClean="0"/>
          </a:p>
          <a:p>
            <a:pPr marL="0" indent="0">
              <a:buNone/>
            </a:pPr>
            <a:r>
              <a:rPr lang="en-US" sz="2800" dirty="0" smtClean="0">
                <a:sym typeface="Wingdings" panose="05000000000000000000" pitchFamily="2" charset="2"/>
              </a:rPr>
              <a:t>	</a:t>
            </a:r>
          </a:p>
          <a:p>
            <a:pPr marL="0" indent="0">
              <a:buNone/>
            </a:pPr>
            <a:endParaRPr lang="en-US" sz="2800" dirty="0" smtClean="0"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41097557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4</a:t>
            </a:r>
            <a:r>
              <a:rPr lang="en-US" dirty="0" smtClean="0"/>
              <a:t>.Cancel Approved Leaves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41655595"/>
              </p:ext>
            </p:extLst>
          </p:nvPr>
        </p:nvGraphicFramePr>
        <p:xfrm>
          <a:off x="677690" y="2326843"/>
          <a:ext cx="8596312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9078">
                  <a:extLst>
                    <a:ext uri="{9D8B030D-6E8A-4147-A177-3AD203B41FA5}">
                      <a16:colId xmlns:a16="http://schemas.microsoft.com/office/drawing/2014/main" val="2981272279"/>
                    </a:ext>
                  </a:extLst>
                </a:gridCol>
                <a:gridCol w="2149078">
                  <a:extLst>
                    <a:ext uri="{9D8B030D-6E8A-4147-A177-3AD203B41FA5}">
                      <a16:colId xmlns:a16="http://schemas.microsoft.com/office/drawing/2014/main" val="4078329162"/>
                    </a:ext>
                  </a:extLst>
                </a:gridCol>
                <a:gridCol w="2149078">
                  <a:extLst>
                    <a:ext uri="{9D8B030D-6E8A-4147-A177-3AD203B41FA5}">
                      <a16:colId xmlns:a16="http://schemas.microsoft.com/office/drawing/2014/main" val="2233131577"/>
                    </a:ext>
                  </a:extLst>
                </a:gridCol>
                <a:gridCol w="2149078">
                  <a:extLst>
                    <a:ext uri="{9D8B030D-6E8A-4147-A177-3AD203B41FA5}">
                      <a16:colId xmlns:a16="http://schemas.microsoft.com/office/drawing/2014/main" val="399960807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Leave Account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Credit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Debit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Balance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66009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6364786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552643" y="1522274"/>
            <a:ext cx="3867789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Leave Account Balance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52643" y="3573171"/>
            <a:ext cx="3183757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28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My Leave Requests</a:t>
            </a:r>
            <a:endParaRPr lang="en-US" sz="28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3057706"/>
              </p:ext>
            </p:extLst>
          </p:nvPr>
        </p:nvGraphicFramePr>
        <p:xfrm>
          <a:off x="677334" y="4474721"/>
          <a:ext cx="8767112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6091">
                  <a:extLst>
                    <a:ext uri="{9D8B030D-6E8A-4147-A177-3AD203B41FA5}">
                      <a16:colId xmlns:a16="http://schemas.microsoft.com/office/drawing/2014/main" val="1679487262"/>
                    </a:ext>
                  </a:extLst>
                </a:gridCol>
                <a:gridCol w="876914">
                  <a:extLst>
                    <a:ext uri="{9D8B030D-6E8A-4147-A177-3AD203B41FA5}">
                      <a16:colId xmlns:a16="http://schemas.microsoft.com/office/drawing/2014/main" val="2478477143"/>
                    </a:ext>
                  </a:extLst>
                </a:gridCol>
                <a:gridCol w="691954">
                  <a:extLst>
                    <a:ext uri="{9D8B030D-6E8A-4147-A177-3AD203B41FA5}">
                      <a16:colId xmlns:a16="http://schemas.microsoft.com/office/drawing/2014/main" val="891314438"/>
                    </a:ext>
                  </a:extLst>
                </a:gridCol>
                <a:gridCol w="681824">
                  <a:extLst>
                    <a:ext uri="{9D8B030D-6E8A-4147-A177-3AD203B41FA5}">
                      <a16:colId xmlns:a16="http://schemas.microsoft.com/office/drawing/2014/main" val="2533154864"/>
                    </a:ext>
                  </a:extLst>
                </a:gridCol>
                <a:gridCol w="887174">
                  <a:extLst>
                    <a:ext uri="{9D8B030D-6E8A-4147-A177-3AD203B41FA5}">
                      <a16:colId xmlns:a16="http://schemas.microsoft.com/office/drawing/2014/main" val="4089843465"/>
                    </a:ext>
                  </a:extLst>
                </a:gridCol>
                <a:gridCol w="1216696">
                  <a:extLst>
                    <a:ext uri="{9D8B030D-6E8A-4147-A177-3AD203B41FA5}">
                      <a16:colId xmlns:a16="http://schemas.microsoft.com/office/drawing/2014/main" val="3947537800"/>
                    </a:ext>
                  </a:extLst>
                </a:gridCol>
                <a:gridCol w="1064609">
                  <a:extLst>
                    <a:ext uri="{9D8B030D-6E8A-4147-A177-3AD203B41FA5}">
                      <a16:colId xmlns:a16="http://schemas.microsoft.com/office/drawing/2014/main" val="3265861297"/>
                    </a:ext>
                  </a:extLst>
                </a:gridCol>
                <a:gridCol w="1190925">
                  <a:extLst>
                    <a:ext uri="{9D8B030D-6E8A-4147-A177-3AD203B41FA5}">
                      <a16:colId xmlns:a16="http://schemas.microsoft.com/office/drawing/2014/main" val="2071857221"/>
                    </a:ext>
                  </a:extLst>
                </a:gridCol>
                <a:gridCol w="1190925">
                  <a:extLst>
                    <a:ext uri="{9D8B030D-6E8A-4147-A177-3AD203B41FA5}">
                      <a16:colId xmlns:a16="http://schemas.microsoft.com/office/drawing/2014/main" val="52102114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From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Unit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smtClean="0"/>
                        <a:t>To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Status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 of Leaves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Applied 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Remarks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Approver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Action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16698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44494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51004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347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41014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637309"/>
          </a:xfrm>
        </p:spPr>
        <p:txBody>
          <a:bodyPr>
            <a:normAutofit fontScale="90000"/>
          </a:bodyPr>
          <a:lstStyle/>
          <a:p>
            <a:pPr algn="ctr"/>
            <a:r>
              <a:rPr lang="en-US" dirty="0" smtClean="0"/>
              <a:t>6.Manager </a:t>
            </a:r>
            <a:r>
              <a:rPr lang="en-US" dirty="0" err="1" smtClean="0"/>
              <a:t>DashBoard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83353421"/>
              </p:ext>
            </p:extLst>
          </p:nvPr>
        </p:nvGraphicFramePr>
        <p:xfrm>
          <a:off x="1005841" y="1441392"/>
          <a:ext cx="8968832" cy="13446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5701">
                  <a:extLst>
                    <a:ext uri="{9D8B030D-6E8A-4147-A177-3AD203B41FA5}">
                      <a16:colId xmlns:a16="http://schemas.microsoft.com/office/drawing/2014/main" val="300591873"/>
                    </a:ext>
                  </a:extLst>
                </a:gridCol>
                <a:gridCol w="1185701">
                  <a:extLst>
                    <a:ext uri="{9D8B030D-6E8A-4147-A177-3AD203B41FA5}">
                      <a16:colId xmlns:a16="http://schemas.microsoft.com/office/drawing/2014/main" val="3937309048"/>
                    </a:ext>
                  </a:extLst>
                </a:gridCol>
                <a:gridCol w="666591">
                  <a:extLst>
                    <a:ext uri="{9D8B030D-6E8A-4147-A177-3AD203B41FA5}">
                      <a16:colId xmlns:a16="http://schemas.microsoft.com/office/drawing/2014/main" val="1900849876"/>
                    </a:ext>
                  </a:extLst>
                </a:gridCol>
                <a:gridCol w="630446">
                  <a:extLst>
                    <a:ext uri="{9D8B030D-6E8A-4147-A177-3AD203B41FA5}">
                      <a16:colId xmlns:a16="http://schemas.microsoft.com/office/drawing/2014/main" val="2520240767"/>
                    </a:ext>
                  </a:extLst>
                </a:gridCol>
                <a:gridCol w="710876">
                  <a:extLst>
                    <a:ext uri="{9D8B030D-6E8A-4147-A177-3AD203B41FA5}">
                      <a16:colId xmlns:a16="http://schemas.microsoft.com/office/drawing/2014/main" val="3854000644"/>
                    </a:ext>
                  </a:extLst>
                </a:gridCol>
                <a:gridCol w="1346923">
                  <a:extLst>
                    <a:ext uri="{9D8B030D-6E8A-4147-A177-3AD203B41FA5}">
                      <a16:colId xmlns:a16="http://schemas.microsoft.com/office/drawing/2014/main" val="858740874"/>
                    </a:ext>
                  </a:extLst>
                </a:gridCol>
                <a:gridCol w="1085022">
                  <a:extLst>
                    <a:ext uri="{9D8B030D-6E8A-4147-A177-3AD203B41FA5}">
                      <a16:colId xmlns:a16="http://schemas.microsoft.com/office/drawing/2014/main" val="1693314996"/>
                    </a:ext>
                  </a:extLst>
                </a:gridCol>
                <a:gridCol w="1010193">
                  <a:extLst>
                    <a:ext uri="{9D8B030D-6E8A-4147-A177-3AD203B41FA5}">
                      <a16:colId xmlns:a16="http://schemas.microsoft.com/office/drawing/2014/main" val="364839406"/>
                    </a:ext>
                  </a:extLst>
                </a:gridCol>
                <a:gridCol w="1147379">
                  <a:extLst>
                    <a:ext uri="{9D8B030D-6E8A-4147-A177-3AD203B41FA5}">
                      <a16:colId xmlns:a16="http://schemas.microsoft.com/office/drawing/2014/main" val="455506263"/>
                    </a:ext>
                  </a:extLst>
                </a:gridCol>
              </a:tblGrid>
              <a:tr h="956642">
                <a:tc>
                  <a:txBody>
                    <a:bodyPr/>
                    <a:lstStyle/>
                    <a:p>
                      <a:r>
                        <a:rPr lang="en-US" dirty="0" smtClean="0"/>
                        <a:t>Employee No.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Employee Name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From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Unit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 of Leaves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Applied 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Remarks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5539160"/>
                  </a:ext>
                </a:extLst>
              </a:tr>
              <a:tr h="387972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6193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403960" y="3411374"/>
            <a:ext cx="2866787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 smtClean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Apply Leaves(Button)</a:t>
            </a:r>
            <a:endParaRPr lang="en-US" sz="28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437241" y="4792134"/>
            <a:ext cx="2790023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 smtClean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Add/Delete Employees</a:t>
            </a:r>
            <a:endParaRPr lang="en-US" sz="28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403960" y="4762886"/>
            <a:ext cx="3464140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Update Roles and Rates</a:t>
            </a:r>
            <a:endParaRPr lang="en-US" sz="2800" b="1" cap="none" spc="0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414161" y="3297391"/>
            <a:ext cx="2421302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n w="12700">
                  <a:solidFill>
                    <a:schemeClr val="accent5"/>
                  </a:solidFill>
                  <a:prstDash val="solid"/>
                </a:ln>
                <a:pattFill prst="ltDnDiag">
                  <a:fgClr>
                    <a:schemeClr val="accent5">
                      <a:lumMod val="60000"/>
                      <a:lumOff val="40000"/>
                    </a:schemeClr>
                  </a:fgClr>
                  <a:bgClr>
                    <a:schemeClr val="bg1"/>
                  </a:bgClr>
                </a:pattFill>
              </a:rPr>
              <a:t>Upload RT Sheet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31698" y="4762884"/>
            <a:ext cx="2381645" cy="138499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 smtClean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Generate Billing Status(Button)</a:t>
            </a:r>
            <a:endParaRPr lang="en-US" sz="2800" b="1" cap="none" spc="0" dirty="0">
              <a:ln w="12700">
                <a:solidFill>
                  <a:schemeClr val="accent1"/>
                </a:solidFill>
                <a:prstDash val="solid"/>
              </a:ln>
              <a:pattFill prst="pct50">
                <a:fgClr>
                  <a:schemeClr val="accent1"/>
                </a:fgClr>
                <a:bgClr>
                  <a:schemeClr val="accent1">
                    <a:lumMod val="20000"/>
                    <a:lumOff val="80000"/>
                  </a:schemeClr>
                </a:bgClr>
              </a:pattFill>
              <a:effectLst>
                <a:outerShdw dist="38100" dir="2640000" algn="bl" rotWithShape="0">
                  <a:schemeClr val="accent1"/>
                </a:outerShdw>
              </a:effectLst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044796" y="4762885"/>
            <a:ext cx="2201990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en-US" sz="2800" b="1" cap="none" spc="0" dirty="0" smtClean="0">
                <a:ln/>
                <a:solidFill>
                  <a:schemeClr val="accent3"/>
                </a:solidFill>
                <a:effectLst/>
              </a:rPr>
              <a:t>Generate Task Order</a:t>
            </a:r>
            <a:endParaRPr lang="en-US" sz="2800" b="1" cap="none" spc="0" dirty="0">
              <a:ln/>
              <a:solidFill>
                <a:schemeClr val="accent3"/>
              </a:solidFill>
              <a:effectLst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6879643" y="3411374"/>
            <a:ext cx="2367143" cy="1077218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3200" b="1" cap="none" spc="0" dirty="0" smtClean="0">
                <a:ln w="13462">
                  <a:solidFill>
                    <a:schemeClr val="bg1"/>
                  </a:solidFill>
                  <a:prstDash val="solid"/>
                </a:ln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dist="38100" dir="2700000" algn="bl" rotWithShape="0">
                    <a:schemeClr val="accent5"/>
                  </a:outerShdw>
                </a:effectLst>
              </a:rPr>
              <a:t>Upload Time Sheet</a:t>
            </a:r>
            <a:endParaRPr lang="en-US" sz="3200" b="1" cap="none" spc="0" dirty="0">
              <a:ln w="13462">
                <a:solidFill>
                  <a:schemeClr val="bg1"/>
                </a:solidFill>
                <a:prstDash val="solid"/>
              </a:ln>
              <a:solidFill>
                <a:schemeClr val="tx1">
                  <a:lumMod val="85000"/>
                  <a:lumOff val="15000"/>
                </a:schemeClr>
              </a:solidFill>
              <a:effectLst>
                <a:outerShdw dist="38100" dir="2700000" algn="bl" rotWithShape="0">
                  <a:schemeClr val="accent5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24115894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054" y="23440"/>
            <a:ext cx="10515600" cy="1325563"/>
          </a:xfrm>
        </p:spPr>
        <p:txBody>
          <a:bodyPr/>
          <a:lstStyle/>
          <a:p>
            <a:pPr algn="ctr"/>
            <a:r>
              <a:rPr lang="en-US" dirty="0" smtClean="0"/>
              <a:t>9.Add/Delete Employees</a:t>
            </a:r>
            <a:endParaRPr lang="en-US" dirty="0"/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925993894"/>
              </p:ext>
            </p:extLst>
          </p:nvPr>
        </p:nvGraphicFramePr>
        <p:xfrm>
          <a:off x="1164770" y="5303154"/>
          <a:ext cx="841248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59428973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62152465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9565468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87726205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Employee</a:t>
                      </a:r>
                      <a:r>
                        <a:rPr lang="en-US" baseline="0" dirty="0" smtClean="0"/>
                        <a:t> No.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Name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Action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Remarks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9613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28347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164770" y="4719157"/>
            <a:ext cx="3095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Delete Employee</a:t>
            </a:r>
            <a:endParaRPr lang="en-US" sz="2800" dirty="0"/>
          </a:p>
        </p:txBody>
      </p:sp>
      <p:sp>
        <p:nvSpPr>
          <p:cNvPr id="6" name="TextBox 5"/>
          <p:cNvSpPr txBox="1"/>
          <p:nvPr/>
        </p:nvSpPr>
        <p:spPr>
          <a:xfrm>
            <a:off x="1164770" y="1047673"/>
            <a:ext cx="309589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smtClean="0"/>
              <a:t>Add Employee</a:t>
            </a:r>
            <a:endParaRPr lang="en-US" sz="2800" dirty="0"/>
          </a:p>
        </p:txBody>
      </p:sp>
      <p:sp>
        <p:nvSpPr>
          <p:cNvPr id="7" name="TextBox 6"/>
          <p:cNvSpPr txBox="1"/>
          <p:nvPr/>
        </p:nvSpPr>
        <p:spPr>
          <a:xfrm>
            <a:off x="1164770" y="1610614"/>
            <a:ext cx="9154887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2800" dirty="0" smtClean="0"/>
              <a:t>Employee No:-Number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/>
              <a:t>Name:-Text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/>
              <a:t>Unit:-Text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/>
              <a:t>Reporting Manager </a:t>
            </a:r>
            <a:r>
              <a:rPr lang="en-US" sz="2800" dirty="0" err="1" smtClean="0"/>
              <a:t>Emp</a:t>
            </a:r>
            <a:r>
              <a:rPr lang="en-US" sz="2800" dirty="0" smtClean="0"/>
              <a:t> Id:-Number 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/>
              <a:t>Location:-Dropdown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/>
              <a:t>DC:-Dropdown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2800" dirty="0" smtClean="0"/>
              <a:t>Designation:-Dropdown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9624391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2190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10.Update Roles and Rates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smtClean="0"/>
              <a:t>Role:-Dropdown</a:t>
            </a:r>
          </a:p>
          <a:p>
            <a:r>
              <a:rPr lang="en-US" dirty="0" smtClean="0"/>
              <a:t>Currency:-Dropdown(USD,INR,GBP)</a:t>
            </a:r>
          </a:p>
          <a:p>
            <a:r>
              <a:rPr lang="en-US" dirty="0" smtClean="0"/>
              <a:t>Pay per Day:-Number</a:t>
            </a:r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  <a:p>
            <a:r>
              <a:rPr lang="en-US" dirty="0" smtClean="0"/>
              <a:t>Add/Delete Role:-Text		Add | Delete</a:t>
            </a:r>
          </a:p>
          <a:p>
            <a:r>
              <a:rPr lang="en-US" dirty="0" smtClean="0"/>
              <a:t>Add/Delete Currency:-Text	</a:t>
            </a:r>
            <a:r>
              <a:rPr lang="en-US" dirty="0"/>
              <a:t>Add | </a:t>
            </a:r>
            <a:r>
              <a:rPr lang="en-US" dirty="0" smtClean="0"/>
              <a:t>Delete</a:t>
            </a:r>
          </a:p>
          <a:p>
            <a:r>
              <a:rPr lang="en-US" dirty="0"/>
              <a:t>Add/Delete </a:t>
            </a:r>
            <a:r>
              <a:rPr lang="en-US" dirty="0" smtClean="0"/>
              <a:t>Location:-</a:t>
            </a:r>
            <a:r>
              <a:rPr lang="en-US" dirty="0"/>
              <a:t>Text	Add | Delete</a:t>
            </a:r>
          </a:p>
          <a:p>
            <a:r>
              <a:rPr lang="en-US" dirty="0" smtClean="0"/>
              <a:t>Add/Delete DC:-</a:t>
            </a:r>
            <a:r>
              <a:rPr lang="en-US" dirty="0"/>
              <a:t>Text	Add | Delete</a:t>
            </a:r>
          </a:p>
          <a:p>
            <a:r>
              <a:rPr lang="en-US" dirty="0"/>
              <a:t>Add/Delete </a:t>
            </a:r>
            <a:r>
              <a:rPr lang="en-US" dirty="0" smtClean="0"/>
              <a:t>Designation:-</a:t>
            </a:r>
            <a:r>
              <a:rPr lang="en-US" dirty="0"/>
              <a:t>Text	Add | Delete</a:t>
            </a:r>
          </a:p>
          <a:p>
            <a:endParaRPr lang="en-US" dirty="0" smtClean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3598685"/>
              </p:ext>
            </p:extLst>
          </p:nvPr>
        </p:nvGraphicFramePr>
        <p:xfrm>
          <a:off x="1048328" y="3117836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807867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1428530896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37824681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Role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Currency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Pay per Day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0437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4082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36557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9664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96953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11.Update Timesheet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Year:-Dropdown</a:t>
            </a:r>
          </a:p>
          <a:p>
            <a:r>
              <a:rPr lang="en-US" dirty="0" smtClean="0"/>
              <a:t>Month:-Dropdown</a:t>
            </a:r>
          </a:p>
          <a:p>
            <a:pPr marL="0" indent="0">
              <a:buNone/>
            </a:pPr>
            <a:r>
              <a:rPr lang="en-US" dirty="0" smtClean="0"/>
              <a:t>		</a:t>
            </a:r>
          </a:p>
          <a:p>
            <a:pPr marL="0" indent="0">
              <a:buNone/>
            </a:pPr>
            <a:r>
              <a:rPr lang="en-US" dirty="0" smtClean="0"/>
              <a:t>	if not present-Button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 smtClean="0"/>
              <a:t>	Present-Excel Sheet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8829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15.Upload RT Sheet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698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16.Admin Login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Rectangle 3"/>
          <p:cNvSpPr/>
          <p:nvPr/>
        </p:nvSpPr>
        <p:spPr>
          <a:xfrm>
            <a:off x="2301584" y="2634824"/>
            <a:ext cx="1924052" cy="181588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 smtClean="0">
                <a:ln w="12700">
                  <a:solidFill>
                    <a:schemeClr val="accent3">
                      <a:lumMod val="50000"/>
                    </a:schemeClr>
                  </a:solidFill>
                  <a:prstDash val="solid"/>
                </a:ln>
                <a:pattFill prst="narHorz">
                  <a:fgClr>
                    <a:schemeClr val="accent3"/>
                  </a:fgClr>
                  <a:bgClr>
                    <a:schemeClr val="accent3">
                      <a:lumMod val="40000"/>
                      <a:lumOff val="60000"/>
                    </a:schemeClr>
                  </a:bgClr>
                </a:pattFill>
                <a:effectLst>
                  <a:innerShdw blurRad="177800">
                    <a:schemeClr val="accent3">
                      <a:lumMod val="50000"/>
                    </a:schemeClr>
                  </a:innerShdw>
                </a:effectLst>
              </a:rPr>
              <a:t>Update Holiday/Optional Holiday</a:t>
            </a:r>
            <a:endParaRPr lang="en-US" sz="2800" b="1" cap="none" spc="0" dirty="0">
              <a:ln w="12700">
                <a:solidFill>
                  <a:schemeClr val="accent3">
                    <a:lumMod val="50000"/>
                  </a:schemeClr>
                </a:solidFill>
                <a:prstDash val="solid"/>
              </a:ln>
              <a:pattFill prst="narHorz">
                <a:fgClr>
                  <a:schemeClr val="accent3"/>
                </a:fgClr>
                <a:bgClr>
                  <a:schemeClr val="accent3">
                    <a:lumMod val="40000"/>
                    <a:lumOff val="60000"/>
                  </a:schemeClr>
                </a:bgClr>
              </a:pattFill>
              <a:effectLst>
                <a:innerShdw blurRad="177800">
                  <a:schemeClr val="accent3">
                    <a:lumMod val="50000"/>
                  </a:schemeClr>
                </a:innerShdw>
              </a:effectLst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859205" y="3047187"/>
            <a:ext cx="3296177" cy="954107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2800" b="1" cap="none" spc="0" dirty="0" smtClean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FFFFFF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Add/Delete Managers</a:t>
            </a:r>
            <a:endParaRPr lang="en-US" sz="2800" b="1" cap="none" spc="0" dirty="0">
              <a:ln w="6600">
                <a:solidFill>
                  <a:schemeClr val="accent2"/>
                </a:solidFill>
                <a:prstDash val="solid"/>
              </a:ln>
              <a:solidFill>
                <a:srgbClr val="FFFFFF"/>
              </a:solidFill>
              <a:effectLst>
                <a:outerShdw dist="38100" dir="2700000" algn="tl" rotWithShape="0">
                  <a:schemeClr val="accent2"/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7205964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17.Update Holiday 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400" dirty="0" smtClean="0"/>
              <a:t>Add Holiday:-</a:t>
            </a:r>
          </a:p>
          <a:p>
            <a:pPr marL="0" indent="0">
              <a:buNone/>
            </a:pPr>
            <a:r>
              <a:rPr lang="en-US" sz="2400" dirty="0" smtClean="0"/>
              <a:t>1.DC:-Dropdown</a:t>
            </a:r>
          </a:p>
          <a:p>
            <a:pPr marL="0" indent="0">
              <a:buNone/>
            </a:pPr>
            <a:r>
              <a:rPr lang="en-US" sz="2400" dirty="0" smtClean="0"/>
              <a:t>2.Year:-Dropdown</a:t>
            </a:r>
          </a:p>
          <a:p>
            <a:pPr marL="0" indent="0">
              <a:buNone/>
            </a:pPr>
            <a:r>
              <a:rPr lang="en-US" sz="2400" dirty="0" smtClean="0"/>
              <a:t>3.Date:-Calendar</a:t>
            </a:r>
          </a:p>
          <a:p>
            <a:pPr marL="0" indent="0">
              <a:buNone/>
            </a:pPr>
            <a:r>
              <a:rPr lang="en-US" sz="2400" dirty="0" smtClean="0"/>
              <a:t>4.Holiday:-Text</a:t>
            </a:r>
          </a:p>
          <a:p>
            <a:pPr marL="0" indent="0">
              <a:buNone/>
            </a:pPr>
            <a:r>
              <a:rPr lang="en-US" sz="2400" dirty="0" smtClean="0"/>
              <a:t>5.Optional Holiday:-Yes/No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 smtClean="0"/>
              <a:t>Delete Holiday:-</a:t>
            </a:r>
          </a:p>
          <a:p>
            <a:pPr marL="0" indent="0">
              <a:buNone/>
            </a:pPr>
            <a:r>
              <a:rPr lang="en-US" sz="2400" dirty="0" smtClean="0"/>
              <a:t>1.DC:-Dropdown</a:t>
            </a:r>
          </a:p>
          <a:p>
            <a:pPr marL="0" indent="0">
              <a:buNone/>
            </a:pPr>
            <a:r>
              <a:rPr lang="en-US" sz="2400" dirty="0" smtClean="0"/>
              <a:t>2.Year:-Dropdown</a:t>
            </a:r>
          </a:p>
          <a:p>
            <a:pPr marL="0" indent="0">
              <a:buNone/>
            </a:pPr>
            <a:r>
              <a:rPr lang="en-US" sz="2400" dirty="0" smtClean="0"/>
              <a:t>3.Date:-Calendar</a:t>
            </a:r>
          </a:p>
          <a:p>
            <a:pPr marL="0" indent="0">
              <a:buNone/>
            </a:pPr>
            <a:r>
              <a:rPr lang="en-US" sz="2400" dirty="0" smtClean="0"/>
              <a:t>4.Optional </a:t>
            </a:r>
            <a:r>
              <a:rPr lang="en-US" sz="2400" dirty="0"/>
              <a:t>Holiday:-Yes/No</a:t>
            </a:r>
          </a:p>
          <a:p>
            <a:pPr marL="0" indent="0"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2698920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 smtClean="0"/>
              <a:t>18.Add/Delete Managers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 smtClean="0"/>
              <a:t>Add Managers:-</a:t>
            </a:r>
          </a:p>
          <a:p>
            <a:pPr marL="0" indent="0">
              <a:buNone/>
            </a:pPr>
            <a:r>
              <a:rPr lang="en-US" sz="2400" dirty="0" smtClean="0"/>
              <a:t>1.Manager No:-Number</a:t>
            </a:r>
          </a:p>
          <a:p>
            <a:pPr marL="0" indent="0">
              <a:buNone/>
            </a:pPr>
            <a:r>
              <a:rPr lang="en-US" sz="2400" dirty="0" smtClean="0"/>
              <a:t>2.Manager Name:-Text</a:t>
            </a:r>
          </a:p>
          <a:p>
            <a:pPr marL="0" indent="0">
              <a:buNone/>
            </a:pPr>
            <a:r>
              <a:rPr lang="en-US" sz="2400" dirty="0" smtClean="0"/>
              <a:t>3.Unit:-Text</a:t>
            </a:r>
            <a:endParaRPr lang="en-US" sz="2400" dirty="0"/>
          </a:p>
          <a:p>
            <a:pPr marL="0" indent="0">
              <a:buNone/>
            </a:pPr>
            <a:r>
              <a:rPr lang="en-US" sz="2400" dirty="0" smtClean="0"/>
              <a:t>4.Location:-Dropdown</a:t>
            </a:r>
          </a:p>
          <a:p>
            <a:pPr marL="0" indent="0">
              <a:buNone/>
            </a:pPr>
            <a:r>
              <a:rPr lang="en-US" sz="2400" dirty="0" smtClean="0"/>
              <a:t>5.Role :-Dropdown</a:t>
            </a:r>
          </a:p>
          <a:p>
            <a:pPr marL="0" indent="0">
              <a:buNone/>
            </a:pPr>
            <a:endParaRPr lang="en-US" sz="2400" dirty="0" smtClean="0"/>
          </a:p>
          <a:p>
            <a:pPr marL="0" indent="0">
              <a:buNone/>
            </a:pPr>
            <a:r>
              <a:rPr lang="en-US" sz="2400" dirty="0" smtClean="0"/>
              <a:t>Delete Managers:-</a:t>
            </a:r>
          </a:p>
          <a:p>
            <a:pPr marL="0" indent="0">
              <a:buNone/>
            </a:pPr>
            <a:r>
              <a:rPr lang="en-US" sz="2400" dirty="0" smtClean="0"/>
              <a:t>1.Manager No:-Number</a:t>
            </a:r>
          </a:p>
          <a:p>
            <a:pPr marL="0" indent="0">
              <a:buNone/>
            </a:pPr>
            <a:r>
              <a:rPr lang="en-US" sz="2400" dirty="0" smtClean="0"/>
              <a:t>2.Replacement Manager:-Number(</a:t>
            </a:r>
            <a:r>
              <a:rPr lang="en-US" sz="2400" dirty="0" err="1" smtClean="0"/>
              <a:t>ManagerNo</a:t>
            </a:r>
            <a:r>
              <a:rPr lang="en-US" sz="2400" dirty="0" smtClean="0"/>
              <a:t>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2077089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81803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94562" y="2385443"/>
            <a:ext cx="7451220" cy="923330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5400" b="1" dirty="0" smtClean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</a:rPr>
              <a:t>Database Design</a:t>
            </a:r>
            <a:endParaRPr lang="en-US" sz="5400" b="1" cap="none" spc="0" dirty="0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7222564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68036" y="360219"/>
            <a:ext cx="10515600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 . Employee Table</a:t>
            </a:r>
          </a:p>
          <a:p>
            <a:endParaRPr lang="en-US" dirty="0"/>
          </a:p>
          <a:p>
            <a:r>
              <a:rPr lang="en-US" dirty="0" smtClean="0"/>
              <a:t>	1. Employee No.:- Number</a:t>
            </a:r>
          </a:p>
          <a:p>
            <a:r>
              <a:rPr lang="en-US" dirty="0"/>
              <a:t>	</a:t>
            </a:r>
            <a:r>
              <a:rPr lang="en-US" dirty="0" smtClean="0"/>
              <a:t>2. Employee Name:- Varchar</a:t>
            </a:r>
          </a:p>
          <a:p>
            <a:r>
              <a:rPr lang="en-US" dirty="0"/>
              <a:t>	</a:t>
            </a:r>
            <a:r>
              <a:rPr lang="en-US" dirty="0" smtClean="0"/>
              <a:t>3. Billing Start Date:-Date</a:t>
            </a:r>
          </a:p>
          <a:p>
            <a:r>
              <a:rPr lang="en-US" dirty="0"/>
              <a:t>	</a:t>
            </a:r>
            <a:r>
              <a:rPr lang="en-US" dirty="0" smtClean="0"/>
              <a:t>4.Billing End Date:-Date</a:t>
            </a:r>
          </a:p>
          <a:p>
            <a:r>
              <a:rPr lang="en-US" dirty="0"/>
              <a:t>	5</a:t>
            </a:r>
            <a:r>
              <a:rPr lang="en-US" dirty="0" smtClean="0"/>
              <a:t>. Approver:- </a:t>
            </a:r>
            <a:r>
              <a:rPr lang="en-US" dirty="0"/>
              <a:t>Varchar</a:t>
            </a:r>
            <a:endParaRPr lang="en-US" dirty="0" smtClean="0"/>
          </a:p>
          <a:p>
            <a:r>
              <a:rPr lang="en-US" dirty="0"/>
              <a:t>	6</a:t>
            </a:r>
            <a:r>
              <a:rPr lang="en-US" dirty="0" smtClean="0"/>
              <a:t>. Location:- </a:t>
            </a:r>
            <a:r>
              <a:rPr lang="en-US" dirty="0"/>
              <a:t>Varchar</a:t>
            </a:r>
            <a:endParaRPr lang="en-US" dirty="0" smtClean="0"/>
          </a:p>
          <a:p>
            <a:r>
              <a:rPr lang="en-US" dirty="0"/>
              <a:t>	7</a:t>
            </a:r>
            <a:r>
              <a:rPr lang="en-US" dirty="0" smtClean="0"/>
              <a:t>. Role:- Varchar</a:t>
            </a:r>
          </a:p>
          <a:p>
            <a:r>
              <a:rPr lang="en-US" dirty="0"/>
              <a:t>	8</a:t>
            </a:r>
            <a:r>
              <a:rPr lang="en-US" dirty="0" smtClean="0"/>
              <a:t>.Currency:-Varchar</a:t>
            </a:r>
          </a:p>
          <a:p>
            <a:r>
              <a:rPr lang="en-US" dirty="0"/>
              <a:t>	</a:t>
            </a:r>
            <a:r>
              <a:rPr lang="en-US" dirty="0" smtClean="0"/>
              <a:t>9.Rate per Hour:-Number</a:t>
            </a:r>
          </a:p>
          <a:p>
            <a:r>
              <a:rPr lang="en-US" dirty="0" smtClean="0"/>
              <a:t>	10.Daily </a:t>
            </a:r>
            <a:r>
              <a:rPr lang="en-US" dirty="0"/>
              <a:t>Rate:-</a:t>
            </a:r>
            <a:r>
              <a:rPr lang="en-US" dirty="0" smtClean="0"/>
              <a:t>Number</a:t>
            </a:r>
          </a:p>
          <a:p>
            <a:r>
              <a:rPr lang="en-US" dirty="0"/>
              <a:t>	</a:t>
            </a:r>
            <a:r>
              <a:rPr lang="en-US" dirty="0" smtClean="0"/>
              <a:t>11.DC:-Varchar</a:t>
            </a:r>
          </a:p>
          <a:p>
            <a:r>
              <a:rPr lang="en-US" dirty="0"/>
              <a:t>	</a:t>
            </a:r>
            <a:r>
              <a:rPr lang="en-US" dirty="0" smtClean="0"/>
              <a:t>12.Application</a:t>
            </a:r>
            <a:r>
              <a:rPr lang="en-US" dirty="0"/>
              <a:t>:- </a:t>
            </a:r>
            <a:r>
              <a:rPr lang="en-US" dirty="0" smtClean="0"/>
              <a:t>Varchar</a:t>
            </a:r>
          </a:p>
          <a:p>
            <a:r>
              <a:rPr lang="en-US" dirty="0" smtClean="0"/>
              <a:t>	13.Adjustment for Last </a:t>
            </a:r>
            <a:r>
              <a:rPr lang="en-US" dirty="0" err="1" smtClean="0"/>
              <a:t>Month:Number</a:t>
            </a:r>
            <a:r>
              <a:rPr lang="en-US" dirty="0" smtClean="0"/>
              <a:t/>
            </a:r>
            <a:br>
              <a:rPr lang="en-US" dirty="0" smtClean="0"/>
            </a:br>
            <a:r>
              <a:rPr lang="en-US" dirty="0" smtClean="0"/>
              <a:t>:</a:t>
            </a:r>
            <a:endParaRPr lang="en-US" dirty="0"/>
          </a:p>
          <a:p>
            <a:endParaRPr lang="en-US" dirty="0" smtClean="0"/>
          </a:p>
          <a:p>
            <a:endParaRPr lang="en-US" dirty="0" smtClean="0"/>
          </a:p>
          <a:p>
            <a:endParaRPr lang="en-US" dirty="0"/>
          </a:p>
          <a:p>
            <a:r>
              <a:rPr lang="en-US" dirty="0" smtClean="0"/>
              <a:t>Composite Primary Key:- Employee No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4748169"/>
              </p:ext>
            </p:extLst>
          </p:nvPr>
        </p:nvGraphicFramePr>
        <p:xfrm>
          <a:off x="588817" y="4557374"/>
          <a:ext cx="10764988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076">
                  <a:extLst>
                    <a:ext uri="{9D8B030D-6E8A-4147-A177-3AD203B41FA5}">
                      <a16:colId xmlns:a16="http://schemas.microsoft.com/office/drawing/2014/main" val="3556738929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1756834817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679693576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3454975171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1868831624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2705823036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631913372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2214789062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3797965298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2229945996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723956810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3936698459"/>
                    </a:ext>
                  </a:extLst>
                </a:gridCol>
                <a:gridCol w="828076">
                  <a:extLst>
                    <a:ext uri="{9D8B030D-6E8A-4147-A177-3AD203B41FA5}">
                      <a16:colId xmlns:a16="http://schemas.microsoft.com/office/drawing/2014/main" val="12913045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Employee No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Employee Name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Billing Start</a:t>
                      </a:r>
                      <a:r>
                        <a:rPr lang="en-US" baseline="0" dirty="0" smtClean="0"/>
                        <a:t> Date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Billing</a:t>
                      </a:r>
                      <a:r>
                        <a:rPr lang="en-US" baseline="0" dirty="0" smtClean="0"/>
                        <a:t> End Date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Approver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Location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Role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Currency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Rate per Hour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Daily Rate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Application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Adjustment(Last Month)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06229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1007809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Aayush Shrivastava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23-Aug-2018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177161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India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Systems Engineer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INR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2520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20160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Pune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138005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26634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63" y="1046018"/>
            <a:ext cx="8853055" cy="49807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6217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316182" y="1108364"/>
            <a:ext cx="940723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II . Manager Table</a:t>
            </a:r>
          </a:p>
          <a:p>
            <a:r>
              <a:rPr lang="en-US" dirty="0"/>
              <a:t>	</a:t>
            </a:r>
            <a:r>
              <a:rPr lang="en-US" dirty="0" smtClean="0"/>
              <a:t>1.Manager No:-Number</a:t>
            </a:r>
          </a:p>
          <a:p>
            <a:r>
              <a:rPr lang="en-US" dirty="0"/>
              <a:t>	</a:t>
            </a:r>
            <a:r>
              <a:rPr lang="en-US" dirty="0" smtClean="0"/>
              <a:t>2.Manager Name:-Varchar</a:t>
            </a:r>
          </a:p>
          <a:p>
            <a:r>
              <a:rPr lang="en-US" dirty="0"/>
              <a:t>	</a:t>
            </a:r>
            <a:r>
              <a:rPr lang="en-US" dirty="0" smtClean="0"/>
              <a:t>3.Unit:-Varchar</a:t>
            </a:r>
          </a:p>
          <a:p>
            <a:r>
              <a:rPr lang="en-US" dirty="0" smtClean="0"/>
              <a:t>	4.Location:-Varchar</a:t>
            </a:r>
          </a:p>
          <a:p>
            <a:r>
              <a:rPr lang="en-US" dirty="0"/>
              <a:t>	</a:t>
            </a:r>
            <a:r>
              <a:rPr lang="en-US" dirty="0" smtClean="0"/>
              <a:t>5.DC:-Varchar</a:t>
            </a:r>
          </a:p>
          <a:p>
            <a:r>
              <a:rPr lang="en-US" dirty="0"/>
              <a:t>	6</a:t>
            </a:r>
            <a:r>
              <a:rPr lang="en-US" dirty="0" smtClean="0"/>
              <a:t>.Role:-Varchar</a:t>
            </a:r>
          </a:p>
          <a:p>
            <a:endParaRPr lang="en-US" dirty="0"/>
          </a:p>
          <a:p>
            <a:r>
              <a:rPr lang="en-US" dirty="0" smtClean="0"/>
              <a:t>Primary Key:-Manager Id</a:t>
            </a:r>
          </a:p>
          <a:p>
            <a:r>
              <a:rPr lang="en-US" dirty="0"/>
              <a:t>	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9816214"/>
              </p:ext>
            </p:extLst>
          </p:nvPr>
        </p:nvGraphicFramePr>
        <p:xfrm>
          <a:off x="1316182" y="3892357"/>
          <a:ext cx="8128002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4667">
                  <a:extLst>
                    <a:ext uri="{9D8B030D-6E8A-4147-A177-3AD203B41FA5}">
                      <a16:colId xmlns:a16="http://schemas.microsoft.com/office/drawing/2014/main" val="1183869910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003603262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683893718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3254116059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509180406"/>
                    </a:ext>
                  </a:extLst>
                </a:gridCol>
                <a:gridCol w="1354667">
                  <a:extLst>
                    <a:ext uri="{9D8B030D-6E8A-4147-A177-3AD203B41FA5}">
                      <a16:colId xmlns:a16="http://schemas.microsoft.com/office/drawing/2014/main" val="292278216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Manager No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Manager Name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Unit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Location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Role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66140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273512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Ankit Singh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FSA3DM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India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Indore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Project Manager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04482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25093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6181" y="990600"/>
            <a:ext cx="9504218" cy="4842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906496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97527" y="775855"/>
            <a:ext cx="991985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III. Login Table</a:t>
            </a:r>
          </a:p>
          <a:p>
            <a:r>
              <a:rPr lang="en-US" dirty="0"/>
              <a:t>	</a:t>
            </a:r>
            <a:r>
              <a:rPr lang="en-US" dirty="0" smtClean="0"/>
              <a:t>1.UserName: Varchar</a:t>
            </a:r>
          </a:p>
          <a:p>
            <a:r>
              <a:rPr lang="en-US" dirty="0"/>
              <a:t>	</a:t>
            </a:r>
            <a:r>
              <a:rPr lang="en-US" dirty="0" smtClean="0"/>
              <a:t>2.Password:password</a:t>
            </a:r>
          </a:p>
          <a:p>
            <a:r>
              <a:rPr lang="en-US" dirty="0"/>
              <a:t>	</a:t>
            </a:r>
            <a:r>
              <a:rPr lang="en-US" dirty="0" smtClean="0"/>
              <a:t>3.Log_Status:Integer(1-Active,0-Inactive)</a:t>
            </a:r>
          </a:p>
          <a:p>
            <a:endParaRPr lang="en-US" dirty="0"/>
          </a:p>
          <a:p>
            <a:r>
              <a:rPr lang="en-US" dirty="0" smtClean="0"/>
              <a:t>Primary Key : </a:t>
            </a:r>
            <a:r>
              <a:rPr lang="en-US" dirty="0" err="1" smtClean="0"/>
              <a:t>UserName</a:t>
            </a:r>
            <a:endParaRPr lang="en-US" dirty="0" smtClean="0"/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8358058"/>
              </p:ext>
            </p:extLst>
          </p:nvPr>
        </p:nvGraphicFramePr>
        <p:xfrm>
          <a:off x="1491672" y="3462866"/>
          <a:ext cx="8127999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37376414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512317424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9532524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UserName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Password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Log_Status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07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 smtClean="0"/>
                        <a:t>Aayush.shrivastava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>
                          <a:hlinkClick r:id="rId2"/>
                        </a:rPr>
                        <a:t>ab@ad.nf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66352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37811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6291" y="1163782"/>
            <a:ext cx="9393382" cy="4752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2990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42654" y="1219200"/>
            <a:ext cx="1051560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IV. DC Wise Holiday Tables</a:t>
            </a:r>
          </a:p>
          <a:p>
            <a:endParaRPr lang="en-US" dirty="0" smtClean="0"/>
          </a:p>
          <a:p>
            <a:r>
              <a:rPr lang="en-US" dirty="0" smtClean="0"/>
              <a:t>	1. Date:- Date</a:t>
            </a:r>
          </a:p>
          <a:p>
            <a:r>
              <a:rPr lang="en-US" dirty="0"/>
              <a:t>	</a:t>
            </a:r>
            <a:r>
              <a:rPr lang="en-US" dirty="0" smtClean="0"/>
              <a:t>2.Location:-Varchar</a:t>
            </a:r>
          </a:p>
          <a:p>
            <a:r>
              <a:rPr lang="en-US" dirty="0" smtClean="0"/>
              <a:t>	3. DC:- Varchar</a:t>
            </a:r>
          </a:p>
          <a:p>
            <a:r>
              <a:rPr lang="en-US" dirty="0"/>
              <a:t>	</a:t>
            </a:r>
            <a:r>
              <a:rPr lang="en-US" dirty="0" smtClean="0"/>
              <a:t>4.Optional Holiday:-Integer(0-No,1-Yes)</a:t>
            </a:r>
          </a:p>
          <a:p>
            <a:r>
              <a:rPr lang="en-US" dirty="0"/>
              <a:t>	5</a:t>
            </a:r>
            <a:r>
              <a:rPr lang="en-US" dirty="0" smtClean="0"/>
              <a:t>.Year:-Number</a:t>
            </a:r>
          </a:p>
          <a:p>
            <a:r>
              <a:rPr lang="en-US" dirty="0"/>
              <a:t>	</a:t>
            </a:r>
          </a:p>
          <a:p>
            <a:r>
              <a:rPr lang="en-US" dirty="0" smtClean="0"/>
              <a:t>Composite Primary Key:- Date+ Location+ DC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9860229"/>
              </p:ext>
            </p:extLst>
          </p:nvPr>
        </p:nvGraphicFramePr>
        <p:xfrm>
          <a:off x="2018146" y="4183303"/>
          <a:ext cx="8128000" cy="1010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09491208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151666204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83693718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041576676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1903902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Date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Location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Optional Holiday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Year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86621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26-Jan-2018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India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Bangalore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0/1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2018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29151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152801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5987" y="1115292"/>
            <a:ext cx="9539721" cy="49114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3827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92727" y="318655"/>
            <a:ext cx="105156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V. Leave Table</a:t>
            </a:r>
          </a:p>
          <a:p>
            <a:endParaRPr lang="en-US" dirty="0"/>
          </a:p>
          <a:p>
            <a:r>
              <a:rPr lang="en-US" dirty="0" smtClean="0"/>
              <a:t>	1.Employee No.:- Number</a:t>
            </a:r>
          </a:p>
          <a:p>
            <a:r>
              <a:rPr lang="en-US" dirty="0"/>
              <a:t>	</a:t>
            </a:r>
            <a:r>
              <a:rPr lang="en-US" dirty="0" smtClean="0"/>
              <a:t>2.Leave Type:-Integer(0-Optional,1-Regular)</a:t>
            </a:r>
          </a:p>
          <a:p>
            <a:r>
              <a:rPr lang="en-US" dirty="0"/>
              <a:t>	</a:t>
            </a:r>
            <a:r>
              <a:rPr lang="en-US" dirty="0" smtClean="0"/>
              <a:t>2.From:-  Date</a:t>
            </a:r>
          </a:p>
          <a:p>
            <a:r>
              <a:rPr lang="en-US" dirty="0"/>
              <a:t>	3</a:t>
            </a:r>
            <a:r>
              <a:rPr lang="en-US" dirty="0" smtClean="0"/>
              <a:t>.To:- Date</a:t>
            </a:r>
          </a:p>
          <a:p>
            <a:r>
              <a:rPr lang="en-US" dirty="0"/>
              <a:t>	4</a:t>
            </a:r>
            <a:r>
              <a:rPr lang="en-US" dirty="0" smtClean="0"/>
              <a:t>.Reason:- </a:t>
            </a:r>
            <a:r>
              <a:rPr lang="en-US" dirty="0"/>
              <a:t>Varchar</a:t>
            </a:r>
            <a:endParaRPr lang="en-US" dirty="0" smtClean="0"/>
          </a:p>
          <a:p>
            <a:r>
              <a:rPr lang="en-US" dirty="0"/>
              <a:t>	5</a:t>
            </a:r>
            <a:r>
              <a:rPr lang="en-US" dirty="0" smtClean="0"/>
              <a:t>.Approver:- Varchar</a:t>
            </a:r>
          </a:p>
          <a:p>
            <a:r>
              <a:rPr lang="en-US" dirty="0"/>
              <a:t>	6</a:t>
            </a:r>
            <a:r>
              <a:rPr lang="en-US" dirty="0" smtClean="0"/>
              <a:t>.Unit:- Varchar</a:t>
            </a:r>
          </a:p>
          <a:p>
            <a:r>
              <a:rPr lang="en-US" dirty="0"/>
              <a:t>	7</a:t>
            </a:r>
            <a:r>
              <a:rPr lang="en-US" dirty="0" smtClean="0"/>
              <a:t>.Status:- Integer(0-Submitted,1-Approved,2-Rejected) </a:t>
            </a:r>
          </a:p>
          <a:p>
            <a:r>
              <a:rPr lang="en-US" dirty="0"/>
              <a:t>	8</a:t>
            </a:r>
            <a:r>
              <a:rPr lang="en-US" dirty="0" smtClean="0"/>
              <a:t>.No.of Leaves:- Number</a:t>
            </a:r>
          </a:p>
          <a:p>
            <a:r>
              <a:rPr lang="en-US" dirty="0" smtClean="0"/>
              <a:t>	</a:t>
            </a:r>
            <a:r>
              <a:rPr lang="en-US" dirty="0"/>
              <a:t>9</a:t>
            </a:r>
            <a:r>
              <a:rPr lang="en-US" dirty="0" smtClean="0"/>
              <a:t>.Remarks:-</a:t>
            </a:r>
            <a:r>
              <a:rPr lang="en-US" dirty="0"/>
              <a:t> Varchar</a:t>
            </a:r>
            <a:endParaRPr lang="en-US" dirty="0" smtClean="0"/>
          </a:p>
          <a:p>
            <a:r>
              <a:rPr lang="en-US" dirty="0" smtClean="0"/>
              <a:t>	</a:t>
            </a:r>
            <a:endParaRPr lang="en-US" dirty="0"/>
          </a:p>
          <a:p>
            <a:r>
              <a:rPr lang="en-US" dirty="0" smtClean="0"/>
              <a:t>Primary Key:-Employee No</a:t>
            </a:r>
          </a:p>
          <a:p>
            <a:r>
              <a:rPr lang="en-US" dirty="0" smtClean="0"/>
              <a:t>Foreign Key:-Approver(From Employee)</a:t>
            </a:r>
            <a:endParaRPr lang="en-US" dirty="0"/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3858759"/>
              </p:ext>
            </p:extLst>
          </p:nvPr>
        </p:nvGraphicFramePr>
        <p:xfrm>
          <a:off x="456897" y="4842970"/>
          <a:ext cx="9288525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1435">
                  <a:extLst>
                    <a:ext uri="{9D8B030D-6E8A-4147-A177-3AD203B41FA5}">
                      <a16:colId xmlns:a16="http://schemas.microsoft.com/office/drawing/2014/main" val="573310637"/>
                    </a:ext>
                  </a:extLst>
                </a:gridCol>
                <a:gridCol w="1081435">
                  <a:extLst>
                    <a:ext uri="{9D8B030D-6E8A-4147-A177-3AD203B41FA5}">
                      <a16:colId xmlns:a16="http://schemas.microsoft.com/office/drawing/2014/main" val="2327240228"/>
                    </a:ext>
                  </a:extLst>
                </a:gridCol>
                <a:gridCol w="665019">
                  <a:extLst>
                    <a:ext uri="{9D8B030D-6E8A-4147-A177-3AD203B41FA5}">
                      <a16:colId xmlns:a16="http://schemas.microsoft.com/office/drawing/2014/main" val="677959162"/>
                    </a:ext>
                  </a:extLst>
                </a:gridCol>
                <a:gridCol w="584224">
                  <a:extLst>
                    <a:ext uri="{9D8B030D-6E8A-4147-A177-3AD203B41FA5}">
                      <a16:colId xmlns:a16="http://schemas.microsoft.com/office/drawing/2014/main" val="407507467"/>
                    </a:ext>
                  </a:extLst>
                </a:gridCol>
                <a:gridCol w="944701">
                  <a:extLst>
                    <a:ext uri="{9D8B030D-6E8A-4147-A177-3AD203B41FA5}">
                      <a16:colId xmlns:a16="http://schemas.microsoft.com/office/drawing/2014/main" val="1494092200"/>
                    </a:ext>
                  </a:extLst>
                </a:gridCol>
                <a:gridCol w="1201599">
                  <a:extLst>
                    <a:ext uri="{9D8B030D-6E8A-4147-A177-3AD203B41FA5}">
                      <a16:colId xmlns:a16="http://schemas.microsoft.com/office/drawing/2014/main" val="1289050863"/>
                    </a:ext>
                  </a:extLst>
                </a:gridCol>
                <a:gridCol w="930354">
                  <a:extLst>
                    <a:ext uri="{9D8B030D-6E8A-4147-A177-3AD203B41FA5}">
                      <a16:colId xmlns:a16="http://schemas.microsoft.com/office/drawing/2014/main" val="2548007855"/>
                    </a:ext>
                  </a:extLst>
                </a:gridCol>
                <a:gridCol w="1028286">
                  <a:extLst>
                    <a:ext uri="{9D8B030D-6E8A-4147-A177-3AD203B41FA5}">
                      <a16:colId xmlns:a16="http://schemas.microsoft.com/office/drawing/2014/main" val="3703788388"/>
                    </a:ext>
                  </a:extLst>
                </a:gridCol>
                <a:gridCol w="795697">
                  <a:extLst>
                    <a:ext uri="{9D8B030D-6E8A-4147-A177-3AD203B41FA5}">
                      <a16:colId xmlns:a16="http://schemas.microsoft.com/office/drawing/2014/main" val="2347169269"/>
                    </a:ext>
                  </a:extLst>
                </a:gridCol>
                <a:gridCol w="975775">
                  <a:extLst>
                    <a:ext uri="{9D8B030D-6E8A-4147-A177-3AD203B41FA5}">
                      <a16:colId xmlns:a16="http://schemas.microsoft.com/office/drawing/2014/main" val="12445359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Employee</a:t>
                      </a:r>
                    </a:p>
                    <a:p>
                      <a:r>
                        <a:rPr lang="en-US" dirty="0" smtClean="0"/>
                        <a:t> No.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Leave Type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From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To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Reason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Approver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Unit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Status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No.</a:t>
                      </a:r>
                      <a:r>
                        <a:rPr lang="en-US" baseline="0" dirty="0" smtClean="0"/>
                        <a:t> of Leaves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Remarks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60623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1008827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21-Jan-2019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25-Jan-2019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717659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FSADM2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51927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583066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9116" y="1052945"/>
            <a:ext cx="9525866" cy="5417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33891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37309" y="556829"/>
            <a:ext cx="6096000" cy="258532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dirty="0" smtClean="0"/>
              <a:t>VI. Leave Account Balance </a:t>
            </a:r>
            <a:r>
              <a:rPr lang="en-US" dirty="0"/>
              <a:t>Table</a:t>
            </a:r>
          </a:p>
          <a:p>
            <a:endParaRPr lang="en-US" dirty="0"/>
          </a:p>
          <a:p>
            <a:r>
              <a:rPr lang="en-US" dirty="0"/>
              <a:t>	1.Employee No</a:t>
            </a:r>
            <a:r>
              <a:rPr lang="en-US" dirty="0" smtClean="0"/>
              <a:t>.:- Number</a:t>
            </a:r>
            <a:endParaRPr lang="en-US" dirty="0"/>
          </a:p>
          <a:p>
            <a:r>
              <a:rPr lang="en-US" dirty="0"/>
              <a:t>	</a:t>
            </a:r>
            <a:r>
              <a:rPr lang="en-US" dirty="0" smtClean="0"/>
              <a:t>2.Leave Account:- </a:t>
            </a:r>
            <a:r>
              <a:rPr lang="en-US" dirty="0"/>
              <a:t>Varchar</a:t>
            </a:r>
          </a:p>
          <a:p>
            <a:r>
              <a:rPr lang="en-US" dirty="0"/>
              <a:t>	</a:t>
            </a:r>
            <a:r>
              <a:rPr lang="en-US" dirty="0" smtClean="0"/>
              <a:t>3.Credit:- Number</a:t>
            </a:r>
          </a:p>
          <a:p>
            <a:r>
              <a:rPr lang="en-US" dirty="0"/>
              <a:t>	</a:t>
            </a:r>
            <a:r>
              <a:rPr lang="en-US" dirty="0" smtClean="0"/>
              <a:t>4.Debit:- Number</a:t>
            </a:r>
          </a:p>
          <a:p>
            <a:r>
              <a:rPr lang="en-US" dirty="0"/>
              <a:t>	</a:t>
            </a:r>
            <a:r>
              <a:rPr lang="en-US" dirty="0" smtClean="0"/>
              <a:t>5.Balance:- Number</a:t>
            </a:r>
            <a:endParaRPr lang="en-US" dirty="0"/>
          </a:p>
          <a:p>
            <a:r>
              <a:rPr lang="en-US" dirty="0"/>
              <a:t>	</a:t>
            </a:r>
          </a:p>
          <a:p>
            <a:r>
              <a:rPr lang="en-US" dirty="0"/>
              <a:t>Primary Key:-Employee No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3523058"/>
              </p:ext>
            </p:extLst>
          </p:nvPr>
        </p:nvGraphicFramePr>
        <p:xfrm>
          <a:off x="526474" y="4086321"/>
          <a:ext cx="11014360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2872">
                  <a:extLst>
                    <a:ext uri="{9D8B030D-6E8A-4147-A177-3AD203B41FA5}">
                      <a16:colId xmlns:a16="http://schemas.microsoft.com/office/drawing/2014/main" val="1261482017"/>
                    </a:ext>
                  </a:extLst>
                </a:gridCol>
                <a:gridCol w="2202872">
                  <a:extLst>
                    <a:ext uri="{9D8B030D-6E8A-4147-A177-3AD203B41FA5}">
                      <a16:colId xmlns:a16="http://schemas.microsoft.com/office/drawing/2014/main" val="3149120272"/>
                    </a:ext>
                  </a:extLst>
                </a:gridCol>
                <a:gridCol w="2202872">
                  <a:extLst>
                    <a:ext uri="{9D8B030D-6E8A-4147-A177-3AD203B41FA5}">
                      <a16:colId xmlns:a16="http://schemas.microsoft.com/office/drawing/2014/main" val="3332434678"/>
                    </a:ext>
                  </a:extLst>
                </a:gridCol>
                <a:gridCol w="2202872">
                  <a:extLst>
                    <a:ext uri="{9D8B030D-6E8A-4147-A177-3AD203B41FA5}">
                      <a16:colId xmlns:a16="http://schemas.microsoft.com/office/drawing/2014/main" val="1199866045"/>
                    </a:ext>
                  </a:extLst>
                </a:gridCol>
                <a:gridCol w="2202872">
                  <a:extLst>
                    <a:ext uri="{9D8B030D-6E8A-4147-A177-3AD203B41FA5}">
                      <a16:colId xmlns:a16="http://schemas.microsoft.com/office/drawing/2014/main" val="28952780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Employee No.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Leave Account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Credit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Debit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Balance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911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smtClean="0"/>
                        <a:t>1008676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EL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5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169283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88435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3"/>
            <a:ext cx="12192000" cy="6854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80901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468582" y="263237"/>
            <a:ext cx="84789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VII. Revenue Transfer Table</a:t>
            </a:r>
          </a:p>
          <a:p>
            <a:r>
              <a:rPr lang="en-US" dirty="0" smtClean="0"/>
              <a:t>	</a:t>
            </a:r>
            <a:r>
              <a:rPr lang="en-US" dirty="0"/>
              <a:t> 1.Employee No </a:t>
            </a:r>
            <a:r>
              <a:rPr lang="en-US" dirty="0" smtClean="0"/>
              <a:t>:-Number</a:t>
            </a:r>
          </a:p>
          <a:p>
            <a:r>
              <a:rPr lang="en-US" dirty="0"/>
              <a:t>	</a:t>
            </a:r>
            <a:r>
              <a:rPr lang="en-US" dirty="0" smtClean="0"/>
              <a:t>2.Track:-Varchar</a:t>
            </a:r>
          </a:p>
          <a:p>
            <a:r>
              <a:rPr lang="en-US" dirty="0"/>
              <a:t>	</a:t>
            </a:r>
            <a:r>
              <a:rPr lang="en-US" dirty="0" smtClean="0"/>
              <a:t>3.Application:-</a:t>
            </a:r>
            <a:r>
              <a:rPr lang="en-US" dirty="0"/>
              <a:t> Varchar</a:t>
            </a:r>
            <a:endParaRPr lang="en-US" dirty="0" smtClean="0"/>
          </a:p>
          <a:p>
            <a:r>
              <a:rPr lang="en-US" dirty="0"/>
              <a:t>	</a:t>
            </a:r>
            <a:r>
              <a:rPr lang="en-US" dirty="0" smtClean="0"/>
              <a:t>4.Billing Start Date:-Date</a:t>
            </a:r>
          </a:p>
          <a:p>
            <a:r>
              <a:rPr lang="en-US" dirty="0"/>
              <a:t>	</a:t>
            </a:r>
            <a:r>
              <a:rPr lang="en-US" dirty="0" smtClean="0"/>
              <a:t>5.Emp Name:-</a:t>
            </a:r>
            <a:r>
              <a:rPr lang="en-US" dirty="0"/>
              <a:t> Varchar</a:t>
            </a:r>
            <a:endParaRPr lang="en-US" dirty="0" smtClean="0"/>
          </a:p>
          <a:p>
            <a:r>
              <a:rPr lang="en-US" dirty="0"/>
              <a:t>	</a:t>
            </a:r>
            <a:r>
              <a:rPr lang="en-US" dirty="0" smtClean="0"/>
              <a:t>6.Location:-</a:t>
            </a:r>
            <a:r>
              <a:rPr lang="en-US" dirty="0"/>
              <a:t> Varchar</a:t>
            </a:r>
            <a:endParaRPr lang="en-US" dirty="0" smtClean="0"/>
          </a:p>
          <a:p>
            <a:r>
              <a:rPr lang="en-US" dirty="0"/>
              <a:t>	</a:t>
            </a:r>
            <a:r>
              <a:rPr lang="en-US" dirty="0" smtClean="0"/>
              <a:t>7.Rate per Hour:-Number</a:t>
            </a:r>
          </a:p>
          <a:p>
            <a:r>
              <a:rPr lang="en-US" dirty="0"/>
              <a:t>	</a:t>
            </a:r>
            <a:r>
              <a:rPr lang="en-US" dirty="0" smtClean="0"/>
              <a:t>8.Daily Rate:-Number</a:t>
            </a:r>
          </a:p>
          <a:p>
            <a:r>
              <a:rPr lang="en-US" dirty="0"/>
              <a:t>	</a:t>
            </a:r>
            <a:r>
              <a:rPr lang="en-US" dirty="0" smtClean="0"/>
              <a:t>9.Date wise effort()</a:t>
            </a:r>
          </a:p>
          <a:p>
            <a:r>
              <a:rPr lang="en-US" dirty="0"/>
              <a:t>	</a:t>
            </a:r>
            <a:r>
              <a:rPr lang="en-US" dirty="0" smtClean="0"/>
              <a:t>	Day</a:t>
            </a:r>
          </a:p>
          <a:p>
            <a:r>
              <a:rPr lang="en-US" dirty="0"/>
              <a:t>	</a:t>
            </a:r>
            <a:r>
              <a:rPr lang="en-US" dirty="0" smtClean="0"/>
              <a:t>         Dates-Months(30 columns)</a:t>
            </a:r>
          </a:p>
          <a:p>
            <a:r>
              <a:rPr lang="en-US" dirty="0"/>
              <a:t>	</a:t>
            </a:r>
            <a:r>
              <a:rPr lang="en-US" dirty="0" smtClean="0"/>
              <a:t>10.Months Effort:-Number</a:t>
            </a:r>
          </a:p>
          <a:p>
            <a:r>
              <a:rPr lang="en-US" dirty="0"/>
              <a:t>	</a:t>
            </a:r>
            <a:r>
              <a:rPr lang="en-US" dirty="0" smtClean="0"/>
              <a:t>11.Month amount:-Number</a:t>
            </a:r>
          </a:p>
          <a:p>
            <a:r>
              <a:rPr lang="en-US" dirty="0"/>
              <a:t>	</a:t>
            </a:r>
            <a:r>
              <a:rPr lang="en-US" dirty="0" smtClean="0"/>
              <a:t>12.Adjustment for previous month:-Number</a:t>
            </a:r>
          </a:p>
          <a:p>
            <a:r>
              <a:rPr lang="en-US" dirty="0"/>
              <a:t>	</a:t>
            </a:r>
            <a:r>
              <a:rPr lang="en-US" dirty="0" smtClean="0"/>
              <a:t>13.Net Billable Amount:-Number</a:t>
            </a:r>
          </a:p>
          <a:p>
            <a:r>
              <a:rPr lang="en-US" dirty="0"/>
              <a:t>	</a:t>
            </a:r>
            <a:r>
              <a:rPr lang="en-US" dirty="0" smtClean="0"/>
              <a:t>14.Remarks:-Varchar</a:t>
            </a:r>
          </a:p>
          <a:p>
            <a:endParaRPr lang="en-US" dirty="0" smtClean="0"/>
          </a:p>
          <a:p>
            <a:r>
              <a:rPr lang="en-US" dirty="0" smtClean="0"/>
              <a:t>Primary Key:-</a:t>
            </a:r>
            <a:r>
              <a:rPr lang="en-US" dirty="0"/>
              <a:t> </a:t>
            </a:r>
            <a:r>
              <a:rPr lang="en-US" dirty="0" smtClean="0"/>
              <a:t>Employee </a:t>
            </a:r>
            <a:r>
              <a:rPr lang="en-US" dirty="0"/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299835946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0981" y="692727"/>
            <a:ext cx="9060874" cy="565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6084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06582" y="1039091"/>
            <a:ext cx="10446327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VIII. Task Order Table</a:t>
            </a:r>
          </a:p>
          <a:p>
            <a:r>
              <a:rPr lang="en-US" dirty="0"/>
              <a:t>	</a:t>
            </a:r>
            <a:r>
              <a:rPr lang="en-US" dirty="0" smtClean="0"/>
              <a:t>1.Deliverable Description:-Varchar</a:t>
            </a:r>
          </a:p>
          <a:p>
            <a:r>
              <a:rPr lang="en-US" dirty="0"/>
              <a:t>	</a:t>
            </a:r>
            <a:r>
              <a:rPr lang="en-US" dirty="0" smtClean="0"/>
              <a:t>2.Role:-Varchar</a:t>
            </a:r>
          </a:p>
          <a:p>
            <a:r>
              <a:rPr lang="en-US" dirty="0"/>
              <a:t>	</a:t>
            </a:r>
            <a:r>
              <a:rPr lang="en-US" dirty="0" smtClean="0"/>
              <a:t>3.Location:-Varchar</a:t>
            </a:r>
          </a:p>
          <a:p>
            <a:r>
              <a:rPr lang="en-US" dirty="0"/>
              <a:t>	</a:t>
            </a:r>
            <a:r>
              <a:rPr lang="en-US" dirty="0" smtClean="0"/>
              <a:t>4.No of Personnel Resources:-Number</a:t>
            </a:r>
          </a:p>
          <a:p>
            <a:r>
              <a:rPr lang="en-US" dirty="0"/>
              <a:t>	</a:t>
            </a:r>
            <a:r>
              <a:rPr lang="en-US" dirty="0" smtClean="0"/>
              <a:t>5.No of Hours per role:-Number</a:t>
            </a:r>
          </a:p>
          <a:p>
            <a:r>
              <a:rPr lang="en-US" dirty="0"/>
              <a:t>	</a:t>
            </a:r>
            <a:r>
              <a:rPr lang="en-US" dirty="0" smtClean="0"/>
              <a:t>6.Discounted Hourly Rate:-Number</a:t>
            </a:r>
          </a:p>
          <a:p>
            <a:r>
              <a:rPr lang="en-US" dirty="0"/>
              <a:t>	</a:t>
            </a:r>
            <a:r>
              <a:rPr lang="en-US" dirty="0" smtClean="0"/>
              <a:t>7.Discounted cost per role:-Number</a:t>
            </a:r>
          </a:p>
          <a:p>
            <a:endParaRPr lang="en-US" dirty="0" smtClean="0"/>
          </a:p>
          <a:p>
            <a:r>
              <a:rPr lang="en-US" dirty="0" smtClean="0"/>
              <a:t>Composite Primary Key:-Deliverable Description + Role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584234"/>
              </p:ext>
            </p:extLst>
          </p:nvPr>
        </p:nvGraphicFramePr>
        <p:xfrm>
          <a:off x="498763" y="4751337"/>
          <a:ext cx="10986654" cy="148974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9522">
                  <a:extLst>
                    <a:ext uri="{9D8B030D-6E8A-4147-A177-3AD203B41FA5}">
                      <a16:colId xmlns:a16="http://schemas.microsoft.com/office/drawing/2014/main" val="1760225671"/>
                    </a:ext>
                  </a:extLst>
                </a:gridCol>
                <a:gridCol w="1569522">
                  <a:extLst>
                    <a:ext uri="{9D8B030D-6E8A-4147-A177-3AD203B41FA5}">
                      <a16:colId xmlns:a16="http://schemas.microsoft.com/office/drawing/2014/main" val="3469103092"/>
                    </a:ext>
                  </a:extLst>
                </a:gridCol>
                <a:gridCol w="1569522">
                  <a:extLst>
                    <a:ext uri="{9D8B030D-6E8A-4147-A177-3AD203B41FA5}">
                      <a16:colId xmlns:a16="http://schemas.microsoft.com/office/drawing/2014/main" val="1940006205"/>
                    </a:ext>
                  </a:extLst>
                </a:gridCol>
                <a:gridCol w="1569522">
                  <a:extLst>
                    <a:ext uri="{9D8B030D-6E8A-4147-A177-3AD203B41FA5}">
                      <a16:colId xmlns:a16="http://schemas.microsoft.com/office/drawing/2014/main" val="1869605969"/>
                    </a:ext>
                  </a:extLst>
                </a:gridCol>
                <a:gridCol w="1569522">
                  <a:extLst>
                    <a:ext uri="{9D8B030D-6E8A-4147-A177-3AD203B41FA5}">
                      <a16:colId xmlns:a16="http://schemas.microsoft.com/office/drawing/2014/main" val="2238919238"/>
                    </a:ext>
                  </a:extLst>
                </a:gridCol>
                <a:gridCol w="1569522">
                  <a:extLst>
                    <a:ext uri="{9D8B030D-6E8A-4147-A177-3AD203B41FA5}">
                      <a16:colId xmlns:a16="http://schemas.microsoft.com/office/drawing/2014/main" val="3427097652"/>
                    </a:ext>
                  </a:extLst>
                </a:gridCol>
                <a:gridCol w="1569522">
                  <a:extLst>
                    <a:ext uri="{9D8B030D-6E8A-4147-A177-3AD203B41FA5}">
                      <a16:colId xmlns:a16="http://schemas.microsoft.com/office/drawing/2014/main" val="2320963702"/>
                    </a:ext>
                  </a:extLst>
                </a:gridCol>
              </a:tblGrid>
              <a:tr h="575349">
                <a:tc>
                  <a:txBody>
                    <a:bodyPr/>
                    <a:lstStyle/>
                    <a:p>
                      <a:r>
                        <a:rPr lang="en-US" dirty="0" smtClean="0"/>
                        <a:t>Deliverable</a:t>
                      </a:r>
                    </a:p>
                    <a:p>
                      <a:r>
                        <a:rPr lang="en-US" dirty="0" smtClean="0"/>
                        <a:t>Description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Role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Location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 of Personnel Hours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No of Hours per role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Discounted Hourly Rate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Discounted</a:t>
                      </a:r>
                      <a:r>
                        <a:rPr lang="en-US" baseline="0" dirty="0" smtClean="0"/>
                        <a:t> cost per role(INR)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8209632"/>
                  </a:ext>
                </a:extLst>
              </a:tr>
              <a:tr h="575349">
                <a:tc>
                  <a:txBody>
                    <a:bodyPr/>
                    <a:lstStyle/>
                    <a:p>
                      <a:r>
                        <a:rPr lang="en-US" dirty="0" smtClean="0"/>
                        <a:t>QA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QC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Indore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176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INR</a:t>
                      </a:r>
                      <a:r>
                        <a:rPr lang="en-US" baseline="0" dirty="0" smtClean="0"/>
                        <a:t> 20.68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3594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845508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381055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7018" y="803564"/>
            <a:ext cx="9324110" cy="5160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517401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339634" y="574766"/>
            <a:ext cx="1159981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IX . Location Table</a:t>
            </a:r>
          </a:p>
          <a:p>
            <a:r>
              <a:rPr lang="en-US" dirty="0"/>
              <a:t>	</a:t>
            </a:r>
            <a:r>
              <a:rPr lang="en-US" dirty="0" smtClean="0"/>
              <a:t>1.Country:-Varchar</a:t>
            </a:r>
          </a:p>
          <a:p>
            <a:r>
              <a:rPr lang="en-US" dirty="0"/>
              <a:t>	</a:t>
            </a:r>
            <a:r>
              <a:rPr lang="en-US" dirty="0" smtClean="0"/>
              <a:t>2.City:-Varchar</a:t>
            </a:r>
          </a:p>
          <a:p>
            <a:r>
              <a:rPr lang="en-US" dirty="0"/>
              <a:t>	</a:t>
            </a:r>
            <a:r>
              <a:rPr lang="en-US" dirty="0" smtClean="0"/>
              <a:t>3.DC:-Varchar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15753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2836" y="1066800"/>
            <a:ext cx="10446328" cy="5223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14286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854</TotalTime>
  <Words>435</Words>
  <Application>Microsoft Office PowerPoint</Application>
  <PresentationFormat>Widescreen</PresentationFormat>
  <Paragraphs>322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5" baseType="lpstr">
      <vt:lpstr>Arial</vt:lpstr>
      <vt:lpstr>Calibri</vt:lpstr>
      <vt:lpstr>Calibri Light</vt:lpstr>
      <vt:lpstr>Wingdings</vt:lpstr>
      <vt:lpstr>Office Theme</vt:lpstr>
      <vt:lpstr>Employee Portal Using Angular 5 &amp; Mongo DB</vt:lpstr>
      <vt:lpstr>1.Login Screen</vt:lpstr>
      <vt:lpstr>PowerPoint Presentation</vt:lpstr>
      <vt:lpstr>PowerPoint Presentation</vt:lpstr>
      <vt:lpstr>2.Employee DashBoard</vt:lpstr>
      <vt:lpstr>PowerPoint Presentation</vt:lpstr>
      <vt:lpstr>PowerPoint Presentation</vt:lpstr>
      <vt:lpstr>4.Cancel Approved Leaves</vt:lpstr>
      <vt:lpstr>PowerPoint Presentation</vt:lpstr>
      <vt:lpstr>6.Manager DashBoard</vt:lpstr>
      <vt:lpstr>9.Add/Delete Employees</vt:lpstr>
      <vt:lpstr>PowerPoint Presentation</vt:lpstr>
      <vt:lpstr>10.Update Roles and Rates</vt:lpstr>
      <vt:lpstr>PowerPoint Presentation</vt:lpstr>
      <vt:lpstr>PowerPoint Presentation</vt:lpstr>
      <vt:lpstr>11.Update Timesheet</vt:lpstr>
      <vt:lpstr>15.Upload RT Sheet</vt:lpstr>
      <vt:lpstr>16.Admin Login</vt:lpstr>
      <vt:lpstr>17.Update Holiday List</vt:lpstr>
      <vt:lpstr>18.Add/Delete Managers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Infosys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Aayush Shrivastava</dc:creator>
  <cp:lastModifiedBy>Aayushi Bhardwaj</cp:lastModifiedBy>
  <cp:revision>192</cp:revision>
  <dcterms:created xsi:type="dcterms:W3CDTF">2018-12-19T09:07:29Z</dcterms:created>
  <dcterms:modified xsi:type="dcterms:W3CDTF">2019-01-04T11:06:15Z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be4b3411-284d-4d31-bd4f-bc13ef7f1fd6_Enabled">
    <vt:lpwstr>True</vt:lpwstr>
  </property>
  <property fmtid="{D5CDD505-2E9C-101B-9397-08002B2CF9AE}" pid="3" name="MSIP_Label_be4b3411-284d-4d31-bd4f-bc13ef7f1fd6_SiteId">
    <vt:lpwstr>63ce7d59-2f3e-42cd-a8cc-be764cff5eb6</vt:lpwstr>
  </property>
  <property fmtid="{D5CDD505-2E9C-101B-9397-08002B2CF9AE}" pid="4" name="MSIP_Label_be4b3411-284d-4d31-bd4f-bc13ef7f1fd6_Owner">
    <vt:lpwstr>aayush.shrivastava@ad.infosys.com</vt:lpwstr>
  </property>
  <property fmtid="{D5CDD505-2E9C-101B-9397-08002B2CF9AE}" pid="5" name="MSIP_Label_be4b3411-284d-4d31-bd4f-bc13ef7f1fd6_SetDate">
    <vt:lpwstr>2018-12-19T10:00:36.4438547Z</vt:lpwstr>
  </property>
  <property fmtid="{D5CDD505-2E9C-101B-9397-08002B2CF9AE}" pid="6" name="MSIP_Label_be4b3411-284d-4d31-bd4f-bc13ef7f1fd6_Name">
    <vt:lpwstr>Internal</vt:lpwstr>
  </property>
  <property fmtid="{D5CDD505-2E9C-101B-9397-08002B2CF9AE}" pid="7" name="MSIP_Label_be4b3411-284d-4d31-bd4f-bc13ef7f1fd6_Application">
    <vt:lpwstr>Microsoft Azure Information Protection</vt:lpwstr>
  </property>
  <property fmtid="{D5CDD505-2E9C-101B-9397-08002B2CF9AE}" pid="8" name="MSIP_Label_be4b3411-284d-4d31-bd4f-bc13ef7f1fd6_Extended_MSFT_Method">
    <vt:lpwstr>Automatic</vt:lpwstr>
  </property>
  <property fmtid="{D5CDD505-2E9C-101B-9397-08002B2CF9AE}" pid="9" name="MSIP_Label_a0819fa7-4367-4500-ba88-dd630d977609_Enabled">
    <vt:lpwstr>True</vt:lpwstr>
  </property>
  <property fmtid="{D5CDD505-2E9C-101B-9397-08002B2CF9AE}" pid="10" name="MSIP_Label_a0819fa7-4367-4500-ba88-dd630d977609_SiteId">
    <vt:lpwstr>63ce7d59-2f3e-42cd-a8cc-be764cff5eb6</vt:lpwstr>
  </property>
  <property fmtid="{D5CDD505-2E9C-101B-9397-08002B2CF9AE}" pid="11" name="MSIP_Label_a0819fa7-4367-4500-ba88-dd630d977609_Owner">
    <vt:lpwstr>aayush.shrivastava@ad.infosys.com</vt:lpwstr>
  </property>
  <property fmtid="{D5CDD505-2E9C-101B-9397-08002B2CF9AE}" pid="12" name="MSIP_Label_a0819fa7-4367-4500-ba88-dd630d977609_SetDate">
    <vt:lpwstr>2018-12-19T10:00:36.4438547Z</vt:lpwstr>
  </property>
  <property fmtid="{D5CDD505-2E9C-101B-9397-08002B2CF9AE}" pid="13" name="MSIP_Label_a0819fa7-4367-4500-ba88-dd630d977609_Name">
    <vt:lpwstr>Companywide usage</vt:lpwstr>
  </property>
  <property fmtid="{D5CDD505-2E9C-101B-9397-08002B2CF9AE}" pid="14" name="MSIP_Label_a0819fa7-4367-4500-ba88-dd630d977609_Application">
    <vt:lpwstr>Microsoft Azure Information Protection</vt:lpwstr>
  </property>
  <property fmtid="{D5CDD505-2E9C-101B-9397-08002B2CF9AE}" pid="15" name="MSIP_Label_a0819fa7-4367-4500-ba88-dd630d977609_Parent">
    <vt:lpwstr>be4b3411-284d-4d31-bd4f-bc13ef7f1fd6</vt:lpwstr>
  </property>
  <property fmtid="{D5CDD505-2E9C-101B-9397-08002B2CF9AE}" pid="16" name="MSIP_Label_a0819fa7-4367-4500-ba88-dd630d977609_Extended_MSFT_Method">
    <vt:lpwstr>Automatic</vt:lpwstr>
  </property>
  <property fmtid="{D5CDD505-2E9C-101B-9397-08002B2CF9AE}" pid="17" name="Sensitivity">
    <vt:lpwstr>Internal Companywide usage</vt:lpwstr>
  </property>
</Properties>
</file>